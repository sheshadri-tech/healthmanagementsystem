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1"/>
  </p:notesMasterIdLst>
  <p:sldIdLst>
    <p:sldId id="257" r:id="rId2"/>
    <p:sldId id="259" r:id="rId3"/>
    <p:sldId id="295" r:id="rId4"/>
    <p:sldId id="268" r:id="rId5"/>
    <p:sldId id="294" r:id="rId6"/>
    <p:sldId id="278" r:id="rId7"/>
    <p:sldId id="285" r:id="rId8"/>
    <p:sldId id="288" r:id="rId9"/>
    <p:sldId id="287" r:id="rId10"/>
    <p:sldId id="296" r:id="rId11"/>
    <p:sldId id="277" r:id="rId12"/>
    <p:sldId id="269" r:id="rId13"/>
    <p:sldId id="291" r:id="rId14"/>
    <p:sldId id="298" r:id="rId15"/>
    <p:sldId id="299" r:id="rId16"/>
    <p:sldId id="300" r:id="rId17"/>
    <p:sldId id="283" r:id="rId18"/>
    <p:sldId id="289"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2D1F"/>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48" d="100"/>
          <a:sy n="48" d="100"/>
        </p:scale>
        <p:origin x="67" y="706"/>
      </p:cViewPr>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167262-DDF3-4C94-BC8A-630017E3A742}" type="datetimeFigureOut">
              <a:rPr lang="en-IN" smtClean="0"/>
              <a:t>07-05-2026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9CB67-CDF6-4A9D-9C91-3FD146BC225F}" type="slidenum">
              <a:rPr lang="en-IN" smtClean="0"/>
              <a:t>‹#›</a:t>
            </a:fld>
            <a:endParaRPr lang="en-IN"/>
          </a:p>
        </p:txBody>
      </p:sp>
    </p:spTree>
    <p:extLst>
      <p:ext uri="{BB962C8B-B14F-4D97-AF65-F5344CB8AC3E}">
        <p14:creationId xmlns:p14="http://schemas.microsoft.com/office/powerpoint/2010/main" val="683188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7CB65-142C-BF92-877A-09CFA3355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C944C-C062-F75C-3D9B-70112DA1A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3D05A-99CB-0C37-44FF-6D6E263C9EF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13244EF-E6D2-A1A3-8F8B-49011C0FC99C}"/>
              </a:ext>
            </a:extLst>
          </p:cNvPr>
          <p:cNvSpPr>
            <a:spLocks noGrp="1"/>
          </p:cNvSpPr>
          <p:nvPr>
            <p:ph type="sldNum" sz="quarter" idx="5"/>
          </p:nvPr>
        </p:nvSpPr>
        <p:spPr/>
        <p:txBody>
          <a:bodyPr/>
          <a:lstStyle/>
          <a:p>
            <a:fld id="{5479CB67-CDF6-4A9D-9C91-3FD146BC225F}" type="slidenum">
              <a:rPr lang="en-IN" smtClean="0"/>
              <a:t>1</a:t>
            </a:fld>
            <a:endParaRPr lang="en-IN"/>
          </a:p>
        </p:txBody>
      </p:sp>
    </p:spTree>
    <p:extLst>
      <p:ext uri="{BB962C8B-B14F-4D97-AF65-F5344CB8AC3E}">
        <p14:creationId xmlns:p14="http://schemas.microsoft.com/office/powerpoint/2010/main" val="1877182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479CB67-CDF6-4A9D-9C91-3FD146BC225F}" type="slidenum">
              <a:rPr lang="en-IN" smtClean="0"/>
              <a:t>4</a:t>
            </a:fld>
            <a:endParaRPr lang="en-IN"/>
          </a:p>
        </p:txBody>
      </p:sp>
    </p:spTree>
    <p:extLst>
      <p:ext uri="{BB962C8B-B14F-4D97-AF65-F5344CB8AC3E}">
        <p14:creationId xmlns:p14="http://schemas.microsoft.com/office/powerpoint/2010/main" val="872044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E0497-F3B3-403F-3AED-831AAEDA5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E4578-9DA5-0222-A264-BE7A0EF2C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EA65FF-8DD2-53A3-7471-9E764BF68A3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AFF2DD7-99B8-0706-652C-3FD8586EBCB3}"/>
              </a:ext>
            </a:extLst>
          </p:cNvPr>
          <p:cNvSpPr>
            <a:spLocks noGrp="1"/>
          </p:cNvSpPr>
          <p:nvPr>
            <p:ph type="sldNum" sz="quarter" idx="5"/>
          </p:nvPr>
        </p:nvSpPr>
        <p:spPr/>
        <p:txBody>
          <a:bodyPr/>
          <a:lstStyle/>
          <a:p>
            <a:fld id="{5479CB67-CDF6-4A9D-9C91-3FD146BC225F}" type="slidenum">
              <a:rPr lang="en-IN" smtClean="0"/>
              <a:t>5</a:t>
            </a:fld>
            <a:endParaRPr lang="en-IN"/>
          </a:p>
        </p:txBody>
      </p:sp>
    </p:spTree>
    <p:extLst>
      <p:ext uri="{BB962C8B-B14F-4D97-AF65-F5344CB8AC3E}">
        <p14:creationId xmlns:p14="http://schemas.microsoft.com/office/powerpoint/2010/main" val="1271656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B6846-39CF-5FCE-F752-B29B66D4D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7CF112-0D0F-841B-5357-32243FFFF9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49D201-8E3C-0313-85AC-E69BDC5D171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F8018B6-5792-7B02-16F4-799DB356EE16}"/>
              </a:ext>
            </a:extLst>
          </p:cNvPr>
          <p:cNvSpPr>
            <a:spLocks noGrp="1"/>
          </p:cNvSpPr>
          <p:nvPr>
            <p:ph type="sldNum" sz="quarter" idx="5"/>
          </p:nvPr>
        </p:nvSpPr>
        <p:spPr/>
        <p:txBody>
          <a:bodyPr/>
          <a:lstStyle/>
          <a:p>
            <a:fld id="{5479CB67-CDF6-4A9D-9C91-3FD146BC225F}" type="slidenum">
              <a:rPr lang="en-IN" smtClean="0"/>
              <a:t>6</a:t>
            </a:fld>
            <a:endParaRPr lang="en-IN"/>
          </a:p>
        </p:txBody>
      </p:sp>
    </p:spTree>
    <p:extLst>
      <p:ext uri="{BB962C8B-B14F-4D97-AF65-F5344CB8AC3E}">
        <p14:creationId xmlns:p14="http://schemas.microsoft.com/office/powerpoint/2010/main" val="22435115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D7436-FA3E-DA43-C286-A0627365C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AF5E3-6102-EE98-E302-D41C706E3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4B835B-B036-7B5A-3BF3-999D52ED7D6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8A1D8F5-018C-C5D0-5485-DFBC5877A54D}"/>
              </a:ext>
            </a:extLst>
          </p:cNvPr>
          <p:cNvSpPr>
            <a:spLocks noGrp="1"/>
          </p:cNvSpPr>
          <p:nvPr>
            <p:ph type="sldNum" sz="quarter" idx="5"/>
          </p:nvPr>
        </p:nvSpPr>
        <p:spPr/>
        <p:txBody>
          <a:bodyPr/>
          <a:lstStyle/>
          <a:p>
            <a:fld id="{5479CB67-CDF6-4A9D-9C91-3FD146BC225F}" type="slidenum">
              <a:rPr lang="en-IN" smtClean="0"/>
              <a:t>7</a:t>
            </a:fld>
            <a:endParaRPr lang="en-IN"/>
          </a:p>
        </p:txBody>
      </p:sp>
    </p:spTree>
    <p:extLst>
      <p:ext uri="{BB962C8B-B14F-4D97-AF65-F5344CB8AC3E}">
        <p14:creationId xmlns:p14="http://schemas.microsoft.com/office/powerpoint/2010/main" val="26137469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289BC-5F22-C6FA-7D29-F1289FBA7B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7680D3-7614-7EE5-082F-E55563E571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91A82-BC67-342C-08B0-BA8EDEED57B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89300AB-3B0C-595A-2913-59293D29EABB}"/>
              </a:ext>
            </a:extLst>
          </p:cNvPr>
          <p:cNvSpPr>
            <a:spLocks noGrp="1"/>
          </p:cNvSpPr>
          <p:nvPr>
            <p:ph type="sldNum" sz="quarter" idx="5"/>
          </p:nvPr>
        </p:nvSpPr>
        <p:spPr/>
        <p:txBody>
          <a:bodyPr/>
          <a:lstStyle/>
          <a:p>
            <a:fld id="{5479CB67-CDF6-4A9D-9C91-3FD146BC225F}" type="slidenum">
              <a:rPr lang="en-IN" smtClean="0"/>
              <a:t>8</a:t>
            </a:fld>
            <a:endParaRPr lang="en-IN"/>
          </a:p>
        </p:txBody>
      </p:sp>
    </p:spTree>
    <p:extLst>
      <p:ext uri="{BB962C8B-B14F-4D97-AF65-F5344CB8AC3E}">
        <p14:creationId xmlns:p14="http://schemas.microsoft.com/office/powerpoint/2010/main" val="2696793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7E6AD-C1A2-F976-D1EB-4E2A6651A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F9B32F-5371-D910-30AF-B9F506D95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EBAEC-F515-4696-B50D-ECE05585839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1A0998E-173A-2DC1-01AD-B1FF823D1894}"/>
              </a:ext>
            </a:extLst>
          </p:cNvPr>
          <p:cNvSpPr>
            <a:spLocks noGrp="1"/>
          </p:cNvSpPr>
          <p:nvPr>
            <p:ph type="sldNum" sz="quarter" idx="5"/>
          </p:nvPr>
        </p:nvSpPr>
        <p:spPr/>
        <p:txBody>
          <a:bodyPr/>
          <a:lstStyle/>
          <a:p>
            <a:fld id="{5479CB67-CDF6-4A9D-9C91-3FD146BC225F}" type="slidenum">
              <a:rPr lang="en-IN" smtClean="0"/>
              <a:t>9</a:t>
            </a:fld>
            <a:endParaRPr lang="en-IN"/>
          </a:p>
        </p:txBody>
      </p:sp>
    </p:spTree>
    <p:extLst>
      <p:ext uri="{BB962C8B-B14F-4D97-AF65-F5344CB8AC3E}">
        <p14:creationId xmlns:p14="http://schemas.microsoft.com/office/powerpoint/2010/main" val="3882614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6CB40-8029-D1DA-41D6-E2E923748B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59028-B12C-7298-940B-9EFBD20A6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AF5ADE-071C-1B8A-437A-3EE1DCDBC4F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7383EF6-1F2B-0B15-1469-AB37082B743D}"/>
              </a:ext>
            </a:extLst>
          </p:cNvPr>
          <p:cNvSpPr>
            <a:spLocks noGrp="1"/>
          </p:cNvSpPr>
          <p:nvPr>
            <p:ph type="sldNum" sz="quarter" idx="5"/>
          </p:nvPr>
        </p:nvSpPr>
        <p:spPr/>
        <p:txBody>
          <a:bodyPr/>
          <a:lstStyle/>
          <a:p>
            <a:fld id="{5479CB67-CDF6-4A9D-9C91-3FD146BC225F}" type="slidenum">
              <a:rPr lang="en-IN" smtClean="0"/>
              <a:t>10</a:t>
            </a:fld>
            <a:endParaRPr lang="en-IN"/>
          </a:p>
        </p:txBody>
      </p:sp>
    </p:spTree>
    <p:extLst>
      <p:ext uri="{BB962C8B-B14F-4D97-AF65-F5344CB8AC3E}">
        <p14:creationId xmlns:p14="http://schemas.microsoft.com/office/powerpoint/2010/main" val="18107327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BB7CB-F980-4046-7F76-0A030A0D54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DE438-CD79-6BD4-B21F-96F9CC119F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0E1013-E45F-F9C9-42F0-A2E17553E9C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F04E051-97B9-C5AD-8004-F0FE08907990}"/>
              </a:ext>
            </a:extLst>
          </p:cNvPr>
          <p:cNvSpPr>
            <a:spLocks noGrp="1"/>
          </p:cNvSpPr>
          <p:nvPr>
            <p:ph type="sldNum" sz="quarter" idx="5"/>
          </p:nvPr>
        </p:nvSpPr>
        <p:spPr/>
        <p:txBody>
          <a:bodyPr/>
          <a:lstStyle/>
          <a:p>
            <a:fld id="{5479CB67-CDF6-4A9D-9C91-3FD146BC225F}" type="slidenum">
              <a:rPr lang="en-IN" smtClean="0"/>
              <a:t>11</a:t>
            </a:fld>
            <a:endParaRPr lang="en-IN"/>
          </a:p>
        </p:txBody>
      </p:sp>
    </p:spTree>
    <p:extLst>
      <p:ext uri="{BB962C8B-B14F-4D97-AF65-F5344CB8AC3E}">
        <p14:creationId xmlns:p14="http://schemas.microsoft.com/office/powerpoint/2010/main" val="21690383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3BBB8-866C-A673-663C-0A278F29D3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2C875-6BC4-BF54-28D8-33677D5BAB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0F31A-A0F7-8FB4-8D31-D6E3C809E89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0E0BB93-5835-1402-808D-116B1157FC93}"/>
              </a:ext>
            </a:extLst>
          </p:cNvPr>
          <p:cNvSpPr>
            <a:spLocks noGrp="1"/>
          </p:cNvSpPr>
          <p:nvPr>
            <p:ph type="sldNum" sz="quarter" idx="5"/>
          </p:nvPr>
        </p:nvSpPr>
        <p:spPr/>
        <p:txBody>
          <a:bodyPr/>
          <a:lstStyle/>
          <a:p>
            <a:fld id="{5479CB67-CDF6-4A9D-9C91-3FD146BC225F}" type="slidenum">
              <a:rPr lang="en-IN" smtClean="0"/>
              <a:t>13</a:t>
            </a:fld>
            <a:endParaRPr lang="en-IN"/>
          </a:p>
        </p:txBody>
      </p:sp>
    </p:spTree>
    <p:extLst>
      <p:ext uri="{BB962C8B-B14F-4D97-AF65-F5344CB8AC3E}">
        <p14:creationId xmlns:p14="http://schemas.microsoft.com/office/powerpoint/2010/main" val="1948638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B9308-7544-801E-7711-1A9E44C3A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C1B3D-07F1-B5D6-850F-4C22AA0076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66F523-AAC4-E5D4-0C82-3EC4E641994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AC62EAA-12B1-9F90-1BB6-335106684DD4}"/>
              </a:ext>
            </a:extLst>
          </p:cNvPr>
          <p:cNvSpPr>
            <a:spLocks noGrp="1"/>
          </p:cNvSpPr>
          <p:nvPr>
            <p:ph type="sldNum" sz="quarter" idx="5"/>
          </p:nvPr>
        </p:nvSpPr>
        <p:spPr/>
        <p:txBody>
          <a:bodyPr/>
          <a:lstStyle/>
          <a:p>
            <a:fld id="{5479CB67-CDF6-4A9D-9C91-3FD146BC225F}" type="slidenum">
              <a:rPr lang="en-IN" smtClean="0"/>
              <a:t>14</a:t>
            </a:fld>
            <a:endParaRPr lang="en-IN"/>
          </a:p>
        </p:txBody>
      </p:sp>
    </p:spTree>
    <p:extLst>
      <p:ext uri="{BB962C8B-B14F-4D97-AF65-F5344CB8AC3E}">
        <p14:creationId xmlns:p14="http://schemas.microsoft.com/office/powerpoint/2010/main" val="37723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A2FD7-FEDF-93E7-0497-6C1184FAC6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43B1-A9C6-567F-7284-E055A29E71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1ED3E-5298-56F0-FEA0-180458848EC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3189907-1648-5735-9B3E-8B3129B1D4E8}"/>
              </a:ext>
            </a:extLst>
          </p:cNvPr>
          <p:cNvSpPr>
            <a:spLocks noGrp="1"/>
          </p:cNvSpPr>
          <p:nvPr>
            <p:ph type="sldNum" sz="quarter" idx="5"/>
          </p:nvPr>
        </p:nvSpPr>
        <p:spPr/>
        <p:txBody>
          <a:bodyPr/>
          <a:lstStyle/>
          <a:p>
            <a:fld id="{5479CB67-CDF6-4A9D-9C91-3FD146BC225F}" type="slidenum">
              <a:rPr lang="en-IN" smtClean="0"/>
              <a:t>15</a:t>
            </a:fld>
            <a:endParaRPr lang="en-IN"/>
          </a:p>
        </p:txBody>
      </p:sp>
    </p:spTree>
    <p:extLst>
      <p:ext uri="{BB962C8B-B14F-4D97-AF65-F5344CB8AC3E}">
        <p14:creationId xmlns:p14="http://schemas.microsoft.com/office/powerpoint/2010/main" val="570690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9E69D-3379-CF5D-56B3-FB6AF11243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DF0F0-F3AF-574D-53F7-3A9CB6ECE8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CFF227-7713-6205-A568-0A960F40642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DB7BC72-B714-1CF1-EF4D-4C68E54B8F43}"/>
              </a:ext>
            </a:extLst>
          </p:cNvPr>
          <p:cNvSpPr>
            <a:spLocks noGrp="1"/>
          </p:cNvSpPr>
          <p:nvPr>
            <p:ph type="sldNum" sz="quarter" idx="5"/>
          </p:nvPr>
        </p:nvSpPr>
        <p:spPr/>
        <p:txBody>
          <a:bodyPr/>
          <a:lstStyle/>
          <a:p>
            <a:fld id="{5479CB67-CDF6-4A9D-9C91-3FD146BC225F}" type="slidenum">
              <a:rPr lang="en-IN" smtClean="0"/>
              <a:t>16</a:t>
            </a:fld>
            <a:endParaRPr lang="en-IN"/>
          </a:p>
        </p:txBody>
      </p:sp>
    </p:spTree>
    <p:extLst>
      <p:ext uri="{BB962C8B-B14F-4D97-AF65-F5344CB8AC3E}">
        <p14:creationId xmlns:p14="http://schemas.microsoft.com/office/powerpoint/2010/main" val="3429587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8F802-5CEA-F201-ABA9-6C3CFE0FF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DEF60-F799-E692-193F-C7C112C36D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C24A0-03AE-9573-F6C8-2CDF30F1A42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5F48893-B232-1150-D0A6-E6CA93ACF650}"/>
              </a:ext>
            </a:extLst>
          </p:cNvPr>
          <p:cNvSpPr>
            <a:spLocks noGrp="1"/>
          </p:cNvSpPr>
          <p:nvPr>
            <p:ph type="sldNum" sz="quarter" idx="5"/>
          </p:nvPr>
        </p:nvSpPr>
        <p:spPr/>
        <p:txBody>
          <a:bodyPr/>
          <a:lstStyle/>
          <a:p>
            <a:fld id="{5479CB67-CDF6-4A9D-9C91-3FD146BC225F}" type="slidenum">
              <a:rPr lang="en-IN" smtClean="0"/>
              <a:t>17</a:t>
            </a:fld>
            <a:endParaRPr lang="en-IN"/>
          </a:p>
        </p:txBody>
      </p:sp>
    </p:spTree>
    <p:extLst>
      <p:ext uri="{BB962C8B-B14F-4D97-AF65-F5344CB8AC3E}">
        <p14:creationId xmlns:p14="http://schemas.microsoft.com/office/powerpoint/2010/main" val="6986856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235B2-290C-A300-6379-CF4AF62013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5FDF99-243D-FBFD-AE20-821DB67972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632C25-340D-091D-5D36-ED9A091CD4A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C3C9F0F-E541-330C-7DD5-134BA95E1C33}"/>
              </a:ext>
            </a:extLst>
          </p:cNvPr>
          <p:cNvSpPr>
            <a:spLocks noGrp="1"/>
          </p:cNvSpPr>
          <p:nvPr>
            <p:ph type="sldNum" sz="quarter" idx="5"/>
          </p:nvPr>
        </p:nvSpPr>
        <p:spPr/>
        <p:txBody>
          <a:bodyPr/>
          <a:lstStyle/>
          <a:p>
            <a:fld id="{5479CB67-CDF6-4A9D-9C91-3FD146BC225F}" type="slidenum">
              <a:rPr lang="en-IN" smtClean="0"/>
              <a:t>18</a:t>
            </a:fld>
            <a:endParaRPr lang="en-IN"/>
          </a:p>
        </p:txBody>
      </p:sp>
    </p:spTree>
    <p:extLst>
      <p:ext uri="{BB962C8B-B14F-4D97-AF65-F5344CB8AC3E}">
        <p14:creationId xmlns:p14="http://schemas.microsoft.com/office/powerpoint/2010/main" val="1473374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F2B0DF-8E80-45B2-AA69-44ACEAEEA217}" type="datetime1">
              <a:rPr lang="en-IN" smtClean="0"/>
              <a:t>07-05-2026</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0280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5549DC-DEAF-414E-AC23-0DC1D83B293B}" type="datetime1">
              <a:rPr lang="en-IN" smtClean="0"/>
              <a:t>07-05-2026</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4143065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FDD8E9-3F29-423A-8D17-C9638DF446C5}" type="datetime1">
              <a:rPr lang="en-IN" smtClean="0"/>
              <a:t>07-05-2026</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8291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D5C6B54-73D3-4F4A-9646-163B36A57891}" type="datetime1">
              <a:rPr lang="en-IN" smtClean="0"/>
              <a:t>07-05-2026</a:t>
            </a:fld>
            <a:endParaRPr lang="en-IN"/>
          </a:p>
        </p:txBody>
      </p:sp>
      <p:sp>
        <p:nvSpPr>
          <p:cNvPr id="6" name="Footer Placeholder 5"/>
          <p:cNvSpPr>
            <a:spLocks noGrp="1"/>
          </p:cNvSpPr>
          <p:nvPr>
            <p:ph type="ftr" sz="quarter" idx="11"/>
          </p:nvPr>
        </p:nvSpPr>
        <p:spPr/>
        <p:txBody>
          <a:bodyPr/>
          <a:lstStyle/>
          <a:p>
            <a:r>
              <a:rPr lang="en-IN"/>
              <a:t>Dept.CSE,KLECET,Chikodi</a:t>
            </a:r>
          </a:p>
        </p:txBody>
      </p:sp>
      <p:sp>
        <p:nvSpPr>
          <p:cNvPr id="7" name="Slide Number Placeholder 6"/>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2310731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E932C5-936E-45FF-A3F8-A80C0F660A7D}" type="datetime1">
              <a:rPr lang="en-IN" smtClean="0"/>
              <a:t>07-05-2026</a:t>
            </a:fld>
            <a:endParaRPr lang="en-IN"/>
          </a:p>
        </p:txBody>
      </p:sp>
      <p:sp>
        <p:nvSpPr>
          <p:cNvPr id="8" name="Footer Placeholder 7"/>
          <p:cNvSpPr>
            <a:spLocks noGrp="1"/>
          </p:cNvSpPr>
          <p:nvPr>
            <p:ph type="ftr" sz="quarter" idx="11"/>
          </p:nvPr>
        </p:nvSpPr>
        <p:spPr/>
        <p:txBody>
          <a:bodyPr/>
          <a:lstStyle/>
          <a:p>
            <a:r>
              <a:rPr lang="en-IN"/>
              <a:t>Dept.CSE,KLECET,Chikodi</a:t>
            </a:r>
          </a:p>
        </p:txBody>
      </p:sp>
      <p:sp>
        <p:nvSpPr>
          <p:cNvPr id="9" name="Slide Number Placeholder 8"/>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1637574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3091A3D-DCA5-4AFB-8276-AB173362DFFF}" type="datetime1">
              <a:rPr lang="en-IN" smtClean="0"/>
              <a:t>07-05-2026</a:t>
            </a:fld>
            <a:endParaRPr lang="en-IN"/>
          </a:p>
        </p:txBody>
      </p:sp>
      <p:sp>
        <p:nvSpPr>
          <p:cNvPr id="4" name="Footer Placeholder 3"/>
          <p:cNvSpPr>
            <a:spLocks noGrp="1"/>
          </p:cNvSpPr>
          <p:nvPr>
            <p:ph type="ftr" sz="quarter" idx="11"/>
          </p:nvPr>
        </p:nvSpPr>
        <p:spPr/>
        <p:txBody>
          <a:bodyPr/>
          <a:lstStyle/>
          <a:p>
            <a:r>
              <a:rPr lang="en-IN"/>
              <a:t>Dept.CSE,KLECET,Chikodi</a:t>
            </a:r>
          </a:p>
        </p:txBody>
      </p:sp>
      <p:sp>
        <p:nvSpPr>
          <p:cNvPr id="5" name="Slide Number Placeholder 4"/>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120817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F9C1D6E-A188-434D-89A1-052D9F98425F}" type="datetime1">
              <a:rPr lang="en-IN" smtClean="0"/>
              <a:t>07-05-2026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IN"/>
              <a:t>Dept.CSE,KLECET,Chikodi</a:t>
            </a:r>
          </a:p>
        </p:txBody>
      </p:sp>
      <p:sp>
        <p:nvSpPr>
          <p:cNvPr id="9" name="Slide Number Placeholder 8"/>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1025332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2A60330-3E19-446D-8A75-2E9F5E783964}" type="datetime1">
              <a:rPr lang="en-IN" smtClean="0"/>
              <a:t>07-05-2026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IN"/>
              <a:t>Dept.CSE,KLECET,Chikodi</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8254D9E-7D44-4180-A68A-D953F4FABDCA}" type="slidenum">
              <a:rPr lang="en-IN" smtClean="0"/>
              <a:t>‹#›</a:t>
            </a:fld>
            <a:endParaRPr lang="en-IN"/>
          </a:p>
        </p:txBody>
      </p:sp>
    </p:spTree>
    <p:extLst>
      <p:ext uri="{BB962C8B-B14F-4D97-AF65-F5344CB8AC3E}">
        <p14:creationId xmlns:p14="http://schemas.microsoft.com/office/powerpoint/2010/main" val="2834504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1B82E4-B944-48E6-A1A2-BD4195E01104}" type="datetime1">
              <a:rPr lang="en-IN" smtClean="0"/>
              <a:t>07-05-2026</a:t>
            </a:fld>
            <a:endParaRPr lang="en-IN"/>
          </a:p>
        </p:txBody>
      </p:sp>
      <p:sp>
        <p:nvSpPr>
          <p:cNvPr id="6" name="Footer Placeholder 5"/>
          <p:cNvSpPr>
            <a:spLocks noGrp="1"/>
          </p:cNvSpPr>
          <p:nvPr>
            <p:ph type="ftr" sz="quarter" idx="11"/>
          </p:nvPr>
        </p:nvSpPr>
        <p:spPr/>
        <p:txBody>
          <a:bodyPr/>
          <a:lstStyle/>
          <a:p>
            <a:r>
              <a:rPr lang="en-IN"/>
              <a:t>Dept.CSE,KLECET,Chikodi</a:t>
            </a:r>
          </a:p>
        </p:txBody>
      </p:sp>
      <p:sp>
        <p:nvSpPr>
          <p:cNvPr id="7" name="Slide Number Placeholder 6"/>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3774356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C6B5D13-7BA1-4576-89A8-0C935EEB0ED4}" type="datetime1">
              <a:rPr lang="en-IN" smtClean="0"/>
              <a:t>07-05-2026</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3877895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9F5FDF-D311-4FB7-8833-152CFD8B5098}" type="datetime1">
              <a:rPr lang="en-IN" smtClean="0"/>
              <a:t>07-05-2026</a:t>
            </a:fld>
            <a:endParaRPr lang="en-IN"/>
          </a:p>
        </p:txBody>
      </p:sp>
      <p:sp>
        <p:nvSpPr>
          <p:cNvPr id="5" name="Footer Placeholder 4"/>
          <p:cNvSpPr>
            <a:spLocks noGrp="1"/>
          </p:cNvSpPr>
          <p:nvPr>
            <p:ph type="ftr" sz="quarter" idx="11"/>
          </p:nvPr>
        </p:nvSpPr>
        <p:spPr/>
        <p:txBody>
          <a:bodyPr/>
          <a:lstStyle/>
          <a:p>
            <a:r>
              <a:rPr lang="en-IN"/>
              <a:t>Dept.CSE,KLECET,Chikodi</a:t>
            </a:r>
          </a:p>
        </p:txBody>
      </p:sp>
      <p:sp>
        <p:nvSpPr>
          <p:cNvPr id="6" name="Slide Number Placeholder 5"/>
          <p:cNvSpPr>
            <a:spLocks noGrp="1"/>
          </p:cNvSpPr>
          <p:nvPr>
            <p:ph type="sldNum" sz="quarter" idx="12"/>
          </p:nvPr>
        </p:nvSpPr>
        <p:spPr/>
        <p:txBody>
          <a:bodyPr/>
          <a:lstStyle/>
          <a:p>
            <a:fld id="{28254D9E-7D44-4180-A68A-D953F4FABDCA}" type="slidenum">
              <a:rPr lang="en-IN" smtClean="0"/>
              <a:t>‹#›</a:t>
            </a:fld>
            <a:endParaRPr lang="en-IN"/>
          </a:p>
        </p:txBody>
      </p:sp>
    </p:spTree>
    <p:extLst>
      <p:ext uri="{BB962C8B-B14F-4D97-AF65-F5344CB8AC3E}">
        <p14:creationId xmlns:p14="http://schemas.microsoft.com/office/powerpoint/2010/main" val="62863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2C7E48B-BAB0-45B3-BA29-D62D91F7E90B}" type="datetime1">
              <a:rPr lang="en-IN" smtClean="0"/>
              <a:t>07-05-2026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IN"/>
              <a:t>Dept.CSE,KLECET,Chikodi</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8254D9E-7D44-4180-A68A-D953F4FABDCA}"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609535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4CD3B-EB64-5FF7-9BB1-B6FB96074550}"/>
            </a:ext>
          </a:extLst>
        </p:cNvPr>
        <p:cNvGrpSpPr/>
        <p:nvPr/>
      </p:nvGrpSpPr>
      <p:grpSpPr>
        <a:xfrm>
          <a:off x="0" y="0"/>
          <a:ext cx="0" cy="0"/>
          <a:chOff x="0" y="0"/>
          <a:chExt cx="0" cy="0"/>
        </a:xfrm>
      </p:grpSpPr>
      <p:sp>
        <p:nvSpPr>
          <p:cNvPr id="2" name="Content Placeholder 1048828">
            <a:extLst>
              <a:ext uri="{FF2B5EF4-FFF2-40B4-BE49-F238E27FC236}">
                <a16:creationId xmlns:a16="http://schemas.microsoft.com/office/drawing/2014/main" id="{0278F938-2631-D4ED-6C17-567138FC1309}"/>
              </a:ext>
            </a:extLst>
          </p:cNvPr>
          <p:cNvSpPr txBox="1">
            <a:spLocks/>
          </p:cNvSpPr>
          <p:nvPr/>
        </p:nvSpPr>
        <p:spPr>
          <a:xfrm>
            <a:off x="474537" y="2152159"/>
            <a:ext cx="11242923" cy="1756532"/>
          </a:xfrm>
          <a:prstGeom prst="rect">
            <a:avLst/>
          </a:prstGeom>
          <a:noFill/>
          <a:ln w="9525">
            <a:noFill/>
          </a:ln>
        </p:spPr>
        <p:txBody>
          <a:bodyPr vert="horz" lIns="91440" tIns="45720" rIns="91440" bIns="45720" anchor="t"/>
          <a:lstStyle>
            <a:lvl1pPr marL="365125" lvl="0" indent="-282575" algn="l" defTabSz="914400" eaLnBrk="1" fontAlgn="base" latinLnBrk="1" hangingPunct="1">
              <a:spcBef>
                <a:spcPts val="600"/>
              </a:spcBef>
              <a:spcAft>
                <a:spcPct val="0"/>
              </a:spcAft>
              <a:buClr>
                <a:srgbClr val="3891A7"/>
              </a:buClr>
              <a:buSzPct val="80000"/>
              <a:buFont typeface="Wingdings 2" panose="05020102010507070707" pitchFamily="18" charset="2"/>
              <a:buChar char=""/>
              <a:defRPr sz="3200" b="0" kern="1200">
                <a:solidFill>
                  <a:srgbClr val="000000"/>
                </a:solidFill>
                <a:latin typeface="+mn-lt"/>
                <a:ea typeface="+mn-ea"/>
                <a:cs typeface="+mn-cs"/>
              </a:defRPr>
            </a:lvl1pPr>
            <a:lvl2pPr marL="638175" lvl="1" indent="-238125" algn="l" defTabSz="914400" eaLnBrk="1" fontAlgn="base" latinLnBrk="1" hangingPunct="1">
              <a:spcBef>
                <a:spcPts val="550"/>
              </a:spcBef>
              <a:spcAft>
                <a:spcPct val="0"/>
              </a:spcAft>
              <a:buClr>
                <a:srgbClr val="3891A7"/>
              </a:buClr>
              <a:buSzPct val="80000"/>
              <a:buFont typeface="Verdana" panose="020B0604030504040204" pitchFamily="34" charset="0"/>
              <a:buChar char="◦"/>
              <a:defRPr sz="2800" b="0" kern="1200">
                <a:solidFill>
                  <a:srgbClr val="000000"/>
                </a:solidFill>
                <a:latin typeface="Calibri" panose="020F0502020204030204"/>
                <a:ea typeface="SimSun" panose="02010600030101010101" pitchFamily="2" charset="-122"/>
                <a:cs typeface="+mn-cs"/>
              </a:defRPr>
            </a:lvl2pPr>
            <a:lvl3pPr marL="885825" lvl="2" indent="-228600" algn="l" defTabSz="914400" eaLnBrk="1" fontAlgn="base" latinLnBrk="1" hangingPunct="1">
              <a:spcBef>
                <a:spcPct val="20000"/>
              </a:spcBef>
              <a:spcAft>
                <a:spcPct val="0"/>
              </a:spcAft>
              <a:buClr>
                <a:srgbClr val="FEB80A"/>
              </a:buClr>
              <a:buSzPct val="80000"/>
              <a:buFont typeface="Wingdings 2" panose="05020102010507070707" pitchFamily="18" charset="2"/>
              <a:buChar char=""/>
              <a:defRPr sz="2400" b="0" kern="1200">
                <a:solidFill>
                  <a:srgbClr val="000000"/>
                </a:solidFill>
                <a:latin typeface="Calibri" panose="020F0502020204030204"/>
                <a:ea typeface="SimSun" panose="02010600030101010101" pitchFamily="2" charset="-122"/>
                <a:cs typeface="+mn-cs"/>
              </a:defRPr>
            </a:lvl3pPr>
            <a:lvl4pPr marL="1095375" lvl="3" indent="-174625" algn="l" defTabSz="914400" eaLnBrk="1" fontAlgn="base" latinLnBrk="1" hangingPunct="1">
              <a:spcBef>
                <a:spcPct val="20000"/>
              </a:spcBef>
              <a:spcAft>
                <a:spcPct val="0"/>
              </a:spcAft>
              <a:buClr>
                <a:srgbClr val="C32D2E"/>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4pPr>
            <a:lvl5pPr marL="1295400" lvl="4" indent="-18415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5pPr>
            <a:lvl6pPr marL="2514600" lvl="5"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6pPr>
            <a:lvl7pPr marL="2971800" lvl="6"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7pPr>
            <a:lvl8pPr marL="3429000" lvl="7"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8pPr>
            <a:lvl9pPr marL="3886200" lvl="8" indent="-228600" algn="l" defTabSz="914400" eaLnBrk="1" fontAlgn="base" latinLnBrk="1" hangingPunct="1">
              <a:spcBef>
                <a:spcPct val="20000"/>
              </a:spcBef>
              <a:spcAft>
                <a:spcPct val="0"/>
              </a:spcAft>
              <a:buClr>
                <a:srgbClr val="84AA33"/>
              </a:buClr>
              <a:buSzPct val="80000"/>
              <a:buFont typeface="Wingdings 2" panose="05020102010507070707" pitchFamily="18" charset="2"/>
              <a:buChar char=""/>
              <a:defRPr sz="2000" b="0" kern="1200">
                <a:solidFill>
                  <a:srgbClr val="000000"/>
                </a:solidFill>
                <a:latin typeface="Calibri" panose="020F0502020204030204"/>
                <a:ea typeface="SimSun" panose="02010600030101010101" pitchFamily="2" charset="-122"/>
                <a:cs typeface="+mn-cs"/>
              </a:defRPr>
            </a:lvl9pPr>
          </a:lstStyle>
          <a:p>
            <a:pPr indent="-1009650" algn="ctr" latinLnBrk="0">
              <a:buFont typeface="Wingdings 2" panose="05020102010507070707" pitchFamily="18" charset="2"/>
              <a:buNone/>
            </a:pPr>
            <a:r>
              <a:rPr lang="en-US" altLang="zh-CN" sz="2000" dirty="0">
                <a:solidFill>
                  <a:schemeClr val="tx1"/>
                </a:solidFill>
                <a:latin typeface="Times New Roman" panose="02020603050405020304" pitchFamily="18" charset="0"/>
                <a:cs typeface="Times New Roman" panose="02020603050405020304" pitchFamily="18" charset="0"/>
              </a:rPr>
              <a:t>Presentation on</a:t>
            </a:r>
            <a:r>
              <a:rPr lang="en-US" altLang="zh-CN" sz="2000" dirty="0">
                <a:solidFill>
                  <a:schemeClr val="tx1"/>
                </a:solidFill>
                <a:latin typeface="+mj-lt"/>
                <a:cs typeface="Times New Roman" pitchFamily="18" charset="0"/>
              </a:rPr>
              <a:t>,</a:t>
            </a:r>
          </a:p>
          <a:p>
            <a:pPr indent="-1009650" algn="ctr" latinLnBrk="0">
              <a:buFont typeface="Wingdings 2" panose="05020102010507070707" pitchFamily="18" charset="2"/>
              <a:buNone/>
            </a:pPr>
            <a:r>
              <a:rPr lang="en-US" altLang="en-US" sz="3600" b="1" dirty="0">
                <a:solidFill>
                  <a:schemeClr val="accent2"/>
                </a:solidFill>
                <a:latin typeface="+mj-lt"/>
                <a:cs typeface="Times New Roman" pitchFamily="18" charset="0"/>
                <a:sym typeface="Arial" panose="020B0604020202020204" pitchFamily="34" charset="0"/>
              </a:rPr>
              <a:t>“</a:t>
            </a:r>
            <a:r>
              <a:rPr lang="en-IN" altLang="en-US" sz="3600" b="1" dirty="0">
                <a:solidFill>
                  <a:schemeClr val="accent2"/>
                </a:solidFill>
                <a:latin typeface="Times New Roman" panose="02020603050405020304" pitchFamily="18" charset="0"/>
                <a:ea typeface="Calibri" panose="020F0502020204030204" pitchFamily="34" charset="0"/>
                <a:cs typeface="Times New Roman" pitchFamily="18" charset="0"/>
                <a:sym typeface="Arial" panose="020B0604020202020204" pitchFamily="34" charset="0"/>
              </a:rPr>
              <a:t>Internship Project – Hospital Management System</a:t>
            </a:r>
            <a:r>
              <a:rPr lang="en-US" altLang="en-US" sz="3600" b="1" dirty="0">
                <a:solidFill>
                  <a:schemeClr val="accent2"/>
                </a:solidFill>
                <a:latin typeface="+mj-lt"/>
                <a:cs typeface="Times New Roman" pitchFamily="18" charset="0"/>
                <a:sym typeface="Arial" panose="020B0604020202020204" pitchFamily="34" charset="0"/>
              </a:rPr>
              <a:t>”</a:t>
            </a:r>
            <a:endParaRPr lang="en-US" altLang="en-IN" sz="1800" b="1" dirty="0">
              <a:solidFill>
                <a:schemeClr val="accent2"/>
              </a:solidFill>
              <a:latin typeface="+mj-lt"/>
              <a:cs typeface="Times New Roman" pitchFamily="18" charset="0"/>
              <a:sym typeface="Arial" panose="020B0604020202020204" pitchFamily="34" charset="0"/>
            </a:endParaRPr>
          </a:p>
          <a:p>
            <a:pPr indent="-1009650" algn="ctr" latinLnBrk="0">
              <a:buFont typeface="Wingdings 2" panose="05020102010507070707" pitchFamily="18" charset="2"/>
              <a:buNone/>
            </a:pPr>
            <a:endParaRPr lang="en-US" altLang="en-IN" sz="2000" b="1" dirty="0">
              <a:solidFill>
                <a:srgbClr val="BD582C"/>
              </a:solidFill>
              <a:latin typeface="+mj-lt"/>
              <a:cs typeface="Times New Roman" pitchFamily="18" charset="0"/>
              <a:sym typeface="Arial" panose="020B0604020202020204" pitchFamily="34" charset="0"/>
            </a:endParaRPr>
          </a:p>
        </p:txBody>
      </p:sp>
      <p:sp>
        <p:nvSpPr>
          <p:cNvPr id="4" name="Rectangle 3">
            <a:extLst>
              <a:ext uri="{FF2B5EF4-FFF2-40B4-BE49-F238E27FC236}">
                <a16:creationId xmlns:a16="http://schemas.microsoft.com/office/drawing/2014/main" id="{7555484C-E0CE-7C1E-EA55-6D12AACD48E9}"/>
              </a:ext>
            </a:extLst>
          </p:cNvPr>
          <p:cNvSpPr/>
          <p:nvPr/>
        </p:nvSpPr>
        <p:spPr>
          <a:xfrm>
            <a:off x="-2" y="4740990"/>
            <a:ext cx="12192000" cy="1421992"/>
          </a:xfrm>
          <a:prstGeom prst="rect">
            <a:avLst/>
          </a:prstGeom>
        </p:spPr>
        <p:txBody>
          <a:bodyPr wrap="square">
            <a:spAutoFit/>
          </a:bodyPr>
          <a:lstStyle/>
          <a:p>
            <a:pPr indent="-1009650" algn="ctr" defTabSz="914400" fontAlgn="base">
              <a:lnSpc>
                <a:spcPct val="150000"/>
              </a:lnSpc>
              <a:spcBef>
                <a:spcPct val="0"/>
              </a:spcBef>
              <a:spcAft>
                <a:spcPct val="0"/>
              </a:spcAft>
            </a:pPr>
            <a:r>
              <a:rPr lang="en-IN" altLang="en-US" sz="2000" b="1" dirty="0">
                <a:solidFill>
                  <a:srgbClr val="E48312"/>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Under the Guidance of:</a:t>
            </a:r>
          </a:p>
          <a:p>
            <a:pPr indent="-1009650" algn="ctr" defTabSz="914400" fontAlgn="base">
              <a:lnSpc>
                <a:spcPct val="150000"/>
              </a:lnSpc>
              <a:spcBef>
                <a:spcPct val="0"/>
              </a:spcBef>
              <a:spcAft>
                <a:spcPct val="0"/>
              </a:spcAft>
            </a:pPr>
            <a:r>
              <a:rPr lang="en-IN" altLang="en-US" sz="2000" b="1" dirty="0">
                <a:solidFill>
                  <a:srgbClr val="E48312"/>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Tanushree T N</a:t>
            </a:r>
            <a:endParaRPr lang="en-US" altLang="en-US" sz="2000" b="1" dirty="0">
              <a:solidFill>
                <a:schemeClr val="tx1">
                  <a:lumMod val="75000"/>
                  <a:lumOff val="25000"/>
                </a:schemeClr>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endParaRPr>
          </a:p>
          <a:p>
            <a:pPr indent="-1009650" algn="ctr" defTabSz="914400" fontAlgn="base">
              <a:lnSpc>
                <a:spcPct val="150000"/>
              </a:lnSpc>
              <a:spcBef>
                <a:spcPct val="0"/>
              </a:spcBef>
              <a:spcAft>
                <a:spcPct val="0"/>
              </a:spcAft>
            </a:pPr>
            <a:r>
              <a:rPr lang="en-US" altLang="en-US" sz="2000" b="1" dirty="0">
                <a:solidFill>
                  <a:schemeClr val="tx1">
                    <a:lumMod val="75000"/>
                    <a:lumOff val="25000"/>
                  </a:schemeClr>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Assistant professor, GMIT, Davangere</a:t>
            </a:r>
            <a:endParaRPr lang="en-IN" altLang="en-US" sz="2000" b="1" dirty="0">
              <a:solidFill>
                <a:srgbClr val="E48312"/>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endParaRPr>
          </a:p>
        </p:txBody>
      </p:sp>
      <p:sp>
        <p:nvSpPr>
          <p:cNvPr id="5" name="TextBox 4">
            <a:extLst>
              <a:ext uri="{FF2B5EF4-FFF2-40B4-BE49-F238E27FC236}">
                <a16:creationId xmlns:a16="http://schemas.microsoft.com/office/drawing/2014/main" id="{F0EE1F72-558F-ABBE-5CC8-775178E7FE1E}"/>
              </a:ext>
            </a:extLst>
          </p:cNvPr>
          <p:cNvSpPr txBox="1"/>
          <p:nvPr/>
        </p:nvSpPr>
        <p:spPr>
          <a:xfrm>
            <a:off x="3175819" y="3429000"/>
            <a:ext cx="5622739" cy="960328"/>
          </a:xfrm>
          <a:prstGeom prst="rect">
            <a:avLst/>
          </a:prstGeom>
          <a:noFill/>
        </p:spPr>
        <p:txBody>
          <a:bodyPr wrap="square" rtlCol="0">
            <a:spAutoFit/>
          </a:bodyPr>
          <a:lstStyle/>
          <a:p>
            <a:pPr defTabSz="914400" fontAlgn="base">
              <a:lnSpc>
                <a:spcPct val="150000"/>
              </a:lnSpc>
              <a:spcBef>
                <a:spcPct val="0"/>
              </a:spcBef>
              <a:spcAft>
                <a:spcPct val="0"/>
              </a:spcAft>
            </a:pPr>
            <a:r>
              <a:rPr lang="en-IN" altLang="en-US" sz="1800" b="1" dirty="0">
                <a:solidFill>
                  <a:srgbClr val="E48312"/>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                                 </a:t>
            </a:r>
            <a:r>
              <a:rPr lang="en-IN" altLang="en-US" sz="2000" b="1" dirty="0">
                <a:solidFill>
                  <a:srgbClr val="E48312"/>
                </a:solidFill>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Presented by:</a:t>
            </a:r>
          </a:p>
          <a:p>
            <a:pPr indent="-1009650" defTabSz="914400" fontAlgn="base">
              <a:lnSpc>
                <a:spcPct val="150000"/>
              </a:lnSpc>
              <a:spcBef>
                <a:spcPct val="0"/>
              </a:spcBef>
              <a:spcAft>
                <a:spcPct val="0"/>
              </a:spcAft>
            </a:pPr>
            <a:r>
              <a:rPr lang="en-IN" altLang="en-US" sz="2000" b="1" dirty="0">
                <a:latin typeface="Times New Roman" panose="02020603050405020304" pitchFamily="18" charset="0"/>
                <a:ea typeface="SimSun" panose="02010600030101010101" pitchFamily="2" charset="-122"/>
                <a:cs typeface="Times New Roman" panose="02020603050405020304" pitchFamily="18" charset="0"/>
                <a:sym typeface="Arial" panose="020B0604020202020204" pitchFamily="34" charset="0"/>
              </a:rPr>
              <a:t>Sheshadri B T                                    4GM22EC093</a:t>
            </a:r>
          </a:p>
        </p:txBody>
      </p:sp>
      <p:sp>
        <p:nvSpPr>
          <p:cNvPr id="3" name="Rectangle 5">
            <a:extLst>
              <a:ext uri="{FF2B5EF4-FFF2-40B4-BE49-F238E27FC236}">
                <a16:creationId xmlns:a16="http://schemas.microsoft.com/office/drawing/2014/main" id="{9C97C5F0-103A-9C3B-5F53-E9CE4A873129}"/>
              </a:ext>
            </a:extLst>
          </p:cNvPr>
          <p:cNvSpPr>
            <a:spLocks noChangeArrowheads="1"/>
          </p:cNvSpPr>
          <p:nvPr/>
        </p:nvSpPr>
        <p:spPr bwMode="auto">
          <a:xfrm>
            <a:off x="560219" y="1319860"/>
            <a:ext cx="1107155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defTabSz="914400" fontAlgn="base">
              <a:spcBef>
                <a:spcPct val="0"/>
              </a:spcBef>
              <a:spcAft>
                <a:spcPct val="0"/>
              </a:spcAft>
            </a:pPr>
            <a:r>
              <a:rPr lang="en-US" sz="2400" b="1" u="sng" dirty="0">
                <a:latin typeface="Times New Roman" panose="02020603050405020304" pitchFamily="18" charset="0"/>
                <a:ea typeface="Bookman Old Style" pitchFamily="18" charset="0"/>
                <a:cs typeface="Times New Roman" panose="02020603050405020304" pitchFamily="18" charset="0"/>
              </a:rPr>
              <a:t>DEPARTMENT OF ELECTRONICS AND COMMUNICATION ENGINEERING</a:t>
            </a:r>
            <a:endParaRPr lang="en-US" sz="3600" b="1" u="sng"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60A1E1E-44BE-36EE-DDC0-277CF1A41B8D}"/>
              </a:ext>
            </a:extLst>
          </p:cNvPr>
          <p:cNvPicPr>
            <a:picLocks noChangeAspect="1"/>
          </p:cNvPicPr>
          <p:nvPr/>
        </p:nvPicPr>
        <p:blipFill>
          <a:blip r:embed="rId3"/>
          <a:stretch>
            <a:fillRect/>
          </a:stretch>
        </p:blipFill>
        <p:spPr>
          <a:xfrm>
            <a:off x="100776" y="173414"/>
            <a:ext cx="11990442" cy="1016051"/>
          </a:xfrm>
          <a:prstGeom prst="rect">
            <a:avLst/>
          </a:prstGeom>
        </p:spPr>
      </p:pic>
    </p:spTree>
    <p:extLst>
      <p:ext uri="{BB962C8B-B14F-4D97-AF65-F5344CB8AC3E}">
        <p14:creationId xmlns:p14="http://schemas.microsoft.com/office/powerpoint/2010/main" val="3247059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E826F255-F350-5D2A-6476-3D55CDF7968B}"/>
              </a:ext>
            </a:extLst>
          </p:cNvPr>
          <p:cNvSpPr>
            <a:spLocks noGrp="1"/>
          </p:cNvSpPr>
          <p:nvPr>
            <p:ph type="ftr" sz="quarter" idx="11"/>
          </p:nvPr>
        </p:nvSpPr>
        <p:spPr>
          <a:xfrm>
            <a:off x="121921" y="6426066"/>
            <a:ext cx="1962518" cy="398845"/>
          </a:xfrm>
        </p:spPr>
        <p:txBody>
          <a:bodyPr/>
          <a:lstStyle/>
          <a:p>
            <a:r>
              <a:rPr lang="en-IN" dirty="0"/>
              <a:t>Dept. of ECE, GMIT, DAVANGERE</a:t>
            </a:r>
          </a:p>
        </p:txBody>
      </p:sp>
      <p:sp>
        <p:nvSpPr>
          <p:cNvPr id="10" name="Slide Number Placeholder 9">
            <a:extLst>
              <a:ext uri="{FF2B5EF4-FFF2-40B4-BE49-F238E27FC236}">
                <a16:creationId xmlns:a16="http://schemas.microsoft.com/office/drawing/2014/main" id="{EE7DDBC7-BDD1-E38A-7B27-A65FADB85108}"/>
              </a:ext>
            </a:extLst>
          </p:cNvPr>
          <p:cNvSpPr>
            <a:spLocks noGrp="1"/>
          </p:cNvSpPr>
          <p:nvPr>
            <p:ph type="sldNum" sz="quarter" idx="12"/>
          </p:nvPr>
        </p:nvSpPr>
        <p:spPr/>
        <p:txBody>
          <a:bodyPr/>
          <a:lstStyle/>
          <a:p>
            <a:fld id="{28254D9E-7D44-4180-A68A-D953F4FABDCA}" type="slidenum">
              <a:rPr lang="en-IN" smtClean="0"/>
              <a:t>2</a:t>
            </a:fld>
            <a:endParaRPr lang="en-IN"/>
          </a:p>
        </p:txBody>
      </p:sp>
      <p:sp>
        <p:nvSpPr>
          <p:cNvPr id="2" name="Title 1">
            <a:extLst>
              <a:ext uri="{FF2B5EF4-FFF2-40B4-BE49-F238E27FC236}">
                <a16:creationId xmlns:a16="http://schemas.microsoft.com/office/drawing/2014/main" id="{B533DD17-733A-4AD9-986F-4363B0CEACAB}"/>
              </a:ext>
            </a:extLst>
          </p:cNvPr>
          <p:cNvSpPr>
            <a:spLocks noGrp="1"/>
          </p:cNvSpPr>
          <p:nvPr>
            <p:ph type="title" idx="4294967295"/>
          </p:nvPr>
        </p:nvSpPr>
        <p:spPr>
          <a:xfrm>
            <a:off x="156929" y="276225"/>
            <a:ext cx="11493500" cy="736600"/>
          </a:xfrm>
        </p:spPr>
        <p:txBody>
          <a:bodyPr>
            <a:normAutofit/>
          </a:bodyPr>
          <a:lstStyle/>
          <a:p>
            <a:r>
              <a:rPr lang="en-US" sz="4000" b="1" dirty="0">
                <a:solidFill>
                  <a:schemeClr val="accent2"/>
                </a:solidFill>
                <a:latin typeface="Baskerville Old Face" panose="02020602080505020303" pitchFamily="18" charset="0"/>
                <a:cs typeface="Times New Roman" panose="02020603050405020304" pitchFamily="18" charset="0"/>
              </a:rPr>
              <a:t>CONTENTS</a:t>
            </a:r>
          </a:p>
        </p:txBody>
      </p:sp>
      <p:sp>
        <p:nvSpPr>
          <p:cNvPr id="6" name="Content Placeholder 2">
            <a:extLst>
              <a:ext uri="{FF2B5EF4-FFF2-40B4-BE49-F238E27FC236}">
                <a16:creationId xmlns:a16="http://schemas.microsoft.com/office/drawing/2014/main" id="{C3C8B02C-FD0A-4202-95D6-3B8875246BD6}"/>
              </a:ext>
            </a:extLst>
          </p:cNvPr>
          <p:cNvSpPr txBox="1">
            <a:spLocks/>
          </p:cNvSpPr>
          <p:nvPr/>
        </p:nvSpPr>
        <p:spPr>
          <a:xfrm>
            <a:off x="313425" y="714895"/>
            <a:ext cx="11601093" cy="5427876"/>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0">
              <a:buNone/>
            </a:pPr>
            <a:endParaRPr lang="en-US" sz="2800" dirty="0">
              <a:latin typeface="Times New Roman" panose="02020603050405020304" pitchFamily="18" charset="0"/>
              <a:cs typeface="Times New Roman" panose="02020603050405020304" pitchFamily="18" charset="0"/>
            </a:endParaRPr>
          </a:p>
          <a:p>
            <a:pPr marL="457200" indent="0">
              <a:buNone/>
            </a:pPr>
            <a:endParaRPr lang="en-US" sz="26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21559D3-BCC3-FF54-64DC-E3D2B96E1DB3}"/>
              </a:ext>
            </a:extLst>
          </p:cNvPr>
          <p:cNvSpPr txBox="1"/>
          <p:nvPr/>
        </p:nvSpPr>
        <p:spPr>
          <a:xfrm>
            <a:off x="983848" y="1012825"/>
            <a:ext cx="9839662" cy="4653646"/>
          </a:xfrm>
          <a:prstGeom prst="rect">
            <a:avLst/>
          </a:prstGeom>
          <a:noFill/>
        </p:spPr>
        <p:txBody>
          <a:bodyPr wrap="square" rtlCol="0">
            <a:spAutoFit/>
          </a:bodyPr>
          <a:lstStyle/>
          <a:p>
            <a:pPr marL="342900" indent="-342900" algn="just">
              <a:lnSpc>
                <a:spcPct val="150000"/>
              </a:lnSpc>
              <a:buFont typeface="+mj-lt"/>
              <a:buAutoNum type="arabicPeriod"/>
            </a:pPr>
            <a:r>
              <a:rPr lang="en-US" sz="2000" dirty="0">
                <a:latin typeface="Times New Roman" panose="02020603050405020304" pitchFamily="18" charset="0"/>
                <a:ea typeface="Optima" pitchFamily="34" charset="-122"/>
                <a:cs typeface="Times New Roman" panose="02020603050405020304" pitchFamily="18" charset="0"/>
              </a:rPr>
              <a:t>Introduction</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Problem Definition</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Objectives</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System Architecture</a:t>
            </a:r>
          </a:p>
          <a:p>
            <a:pPr marL="342900" indent="-342900" algn="just">
              <a:lnSpc>
                <a:spcPct val="150000"/>
              </a:lnSpc>
              <a:buFont typeface="+mj-lt"/>
              <a:buAutoNum type="arabicPeriod"/>
            </a:pPr>
            <a:r>
              <a:rPr lang="en-IN" sz="2000" kern="100" dirty="0">
                <a:effectLst/>
                <a:latin typeface="Times New Roman" panose="02020603050405020304" pitchFamily="18" charset="0"/>
                <a:ea typeface="Noto Serif CJK SC"/>
                <a:cs typeface="Times New Roman" panose="02020603050405020304" pitchFamily="18" charset="0"/>
              </a:rPr>
              <a:t>Software Requirements and Hardware Requirements</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Methodology</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Implementation </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Results and discussions</a:t>
            </a:r>
          </a:p>
          <a:p>
            <a:pPr marL="342900" indent="-3429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Advantages and Applications</a:t>
            </a:r>
          </a:p>
          <a:p>
            <a:pPr marL="34290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Conclusion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396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B1E2D-9715-D025-6EEE-123634B3DC76}"/>
            </a:ext>
          </a:extLst>
        </p:cNvPr>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C6A87D4E-FE53-8A16-9A19-3C71E45FFE12}"/>
              </a:ext>
            </a:extLst>
          </p:cNvPr>
          <p:cNvSpPr>
            <a:spLocks noGrp="1"/>
          </p:cNvSpPr>
          <p:nvPr>
            <p:ph type="ftr" sz="quarter" idx="11"/>
          </p:nvPr>
        </p:nvSpPr>
        <p:spPr>
          <a:xfrm>
            <a:off x="121921" y="6426066"/>
            <a:ext cx="1874027" cy="398845"/>
          </a:xfrm>
        </p:spPr>
        <p:txBody>
          <a:bodyPr/>
          <a:lstStyle/>
          <a:p>
            <a:r>
              <a:rPr lang="en-IN" dirty="0"/>
              <a:t>Dept. of ECE, GMIT, DAVANGERE</a:t>
            </a:r>
          </a:p>
        </p:txBody>
      </p:sp>
      <p:sp>
        <p:nvSpPr>
          <p:cNvPr id="10" name="Slide Number Placeholder 9">
            <a:extLst>
              <a:ext uri="{FF2B5EF4-FFF2-40B4-BE49-F238E27FC236}">
                <a16:creationId xmlns:a16="http://schemas.microsoft.com/office/drawing/2014/main" id="{3357EE81-E8C1-E061-EA50-85CBDAD6188C}"/>
              </a:ext>
            </a:extLst>
          </p:cNvPr>
          <p:cNvSpPr>
            <a:spLocks noGrp="1"/>
          </p:cNvSpPr>
          <p:nvPr>
            <p:ph type="sldNum" sz="quarter" idx="12"/>
          </p:nvPr>
        </p:nvSpPr>
        <p:spPr/>
        <p:txBody>
          <a:bodyPr/>
          <a:lstStyle/>
          <a:p>
            <a:fld id="{28254D9E-7D44-4180-A68A-D953F4FABDCA}" type="slidenum">
              <a:rPr lang="en-IN" smtClean="0"/>
              <a:t>3</a:t>
            </a:fld>
            <a:endParaRPr lang="en-IN"/>
          </a:p>
        </p:txBody>
      </p:sp>
      <p:sp>
        <p:nvSpPr>
          <p:cNvPr id="2" name="Title 1">
            <a:extLst>
              <a:ext uri="{FF2B5EF4-FFF2-40B4-BE49-F238E27FC236}">
                <a16:creationId xmlns:a16="http://schemas.microsoft.com/office/drawing/2014/main" id="{0BD8DD31-AE98-B064-C888-2CD0774C4911}"/>
              </a:ext>
            </a:extLst>
          </p:cNvPr>
          <p:cNvSpPr>
            <a:spLocks noGrp="1"/>
          </p:cNvSpPr>
          <p:nvPr>
            <p:ph type="title" idx="4294967295"/>
          </p:nvPr>
        </p:nvSpPr>
        <p:spPr>
          <a:xfrm>
            <a:off x="313425" y="346595"/>
            <a:ext cx="11493500" cy="736600"/>
          </a:xfrm>
        </p:spPr>
        <p:txBody>
          <a:bodyPr>
            <a:normAutofit/>
          </a:bodyPr>
          <a:lstStyle/>
          <a:p>
            <a:r>
              <a:rPr lang="en-IN" sz="4000" b="1" dirty="0">
                <a:solidFill>
                  <a:srgbClr val="9B2D1F"/>
                </a:solidFill>
                <a:latin typeface="Times New Roman" panose="02020603050405020304" pitchFamily="18" charset="0"/>
                <a:cs typeface="Times New Roman" panose="02020603050405020304" pitchFamily="18" charset="0"/>
              </a:rPr>
              <a:t>ABOUT THE ORGANIZATION</a:t>
            </a:r>
            <a:endParaRPr lang="en-US" sz="4000" b="1" dirty="0">
              <a:solidFill>
                <a:srgbClr val="9B2D1F"/>
              </a:solidFill>
              <a:latin typeface="Baskerville Old Face" panose="02020602080505020303"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2B08EE22-92CC-0346-8A85-06AF71D2EB51}"/>
              </a:ext>
            </a:extLst>
          </p:cNvPr>
          <p:cNvSpPr txBox="1">
            <a:spLocks/>
          </p:cNvSpPr>
          <p:nvPr/>
        </p:nvSpPr>
        <p:spPr>
          <a:xfrm>
            <a:off x="313425" y="714895"/>
            <a:ext cx="11601093" cy="5427876"/>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0">
              <a:buNone/>
            </a:pPr>
            <a:endParaRPr lang="en-US" sz="2800" dirty="0">
              <a:latin typeface="Times New Roman" panose="02020603050405020304" pitchFamily="18" charset="0"/>
              <a:cs typeface="Times New Roman" panose="02020603050405020304" pitchFamily="18" charset="0"/>
            </a:endParaRPr>
          </a:p>
          <a:p>
            <a:pPr marL="457200" indent="0">
              <a:buNone/>
            </a:pPr>
            <a:endParaRPr lang="en-US" sz="26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F8FA4325-F029-79B1-B3C8-BB6A74328511}"/>
              </a:ext>
            </a:extLst>
          </p:cNvPr>
          <p:cNvSpPr txBox="1"/>
          <p:nvPr/>
        </p:nvSpPr>
        <p:spPr>
          <a:xfrm>
            <a:off x="555585" y="1073626"/>
            <a:ext cx="10815730" cy="5016758"/>
          </a:xfrm>
          <a:prstGeom prst="rect">
            <a:avLst/>
          </a:prstGeom>
          <a:noFill/>
        </p:spPr>
        <p:txBody>
          <a:bodyPr wrap="square">
            <a:spAutoFit/>
          </a:bodyPr>
          <a:lstStyle/>
          <a:p>
            <a:pPr algn="just">
              <a:lnSpc>
                <a:spcPct val="150000"/>
              </a:lnSpc>
              <a:buNone/>
            </a:pPr>
            <a:r>
              <a:rPr lang="en-US" sz="2000" b="1" dirty="0">
                <a:latin typeface="Times New Roman" panose="02020603050405020304" pitchFamily="18" charset="0"/>
                <a:cs typeface="Times New Roman" panose="02020603050405020304" pitchFamily="18" charset="0"/>
              </a:rPr>
              <a:t>Company Name:  Pentagon space  </a:t>
            </a:r>
          </a:p>
          <a:p>
            <a:pPr algn="just">
              <a:lnSpc>
                <a:spcPct val="150000"/>
              </a:lnSpc>
              <a:buNone/>
            </a:pPr>
            <a:r>
              <a:rPr lang="en-US" sz="2000" b="1" dirty="0">
                <a:latin typeface="Times New Roman" panose="02020603050405020304" pitchFamily="18" charset="0"/>
                <a:cs typeface="Times New Roman" panose="02020603050405020304" pitchFamily="18" charset="0"/>
              </a:rPr>
              <a:t>Duration: 25/01/2026 to 26/04/2026 </a:t>
            </a:r>
          </a:p>
          <a:p>
            <a:pPr algn="just">
              <a:lnSpc>
                <a:spcPct val="150000"/>
              </a:lnSpc>
              <a:buNone/>
            </a:pPr>
            <a:r>
              <a:rPr lang="en-US" sz="2000" b="1" dirty="0">
                <a:latin typeface="Times New Roman" panose="02020603050405020304" pitchFamily="18" charset="0"/>
                <a:cs typeface="Times New Roman" panose="02020603050405020304" pitchFamily="18" charset="0"/>
              </a:rPr>
              <a:t>Role: Java Full Stack </a:t>
            </a:r>
          </a:p>
          <a:p>
            <a:pPr algn="just">
              <a:lnSpc>
                <a:spcPct val="150000"/>
              </a:lnSpc>
              <a:buNone/>
            </a:pPr>
            <a:r>
              <a:rPr lang="en-US" sz="2000" b="1" dirty="0">
                <a:latin typeface="Times New Roman" panose="02020603050405020304" pitchFamily="18" charset="0"/>
                <a:cs typeface="Times New Roman" panose="02020603050405020304" pitchFamily="18" charset="0"/>
              </a:rPr>
              <a:t>Founder : </a:t>
            </a:r>
            <a:r>
              <a:rPr lang="en-IN" sz="2000" b="1" i="0" dirty="0">
                <a:solidFill>
                  <a:srgbClr val="001D35"/>
                </a:solidFill>
                <a:effectLst/>
                <a:latin typeface="Times New Roman" panose="02020603050405020304" pitchFamily="18" charset="0"/>
                <a:cs typeface="Times New Roman" panose="02020603050405020304" pitchFamily="18" charset="0"/>
              </a:rPr>
              <a:t>Mr. Ravi Shankar Aradhya</a:t>
            </a:r>
            <a:endParaRPr lang="en-IN" sz="2000" b="1" dirty="0">
              <a:solidFill>
                <a:srgbClr val="001D35"/>
              </a:solidFill>
              <a:latin typeface="Times New Roman" panose="02020603050405020304" pitchFamily="18" charset="0"/>
              <a:cs typeface="Times New Roman" panose="02020603050405020304" pitchFamily="18" charset="0"/>
            </a:endParaRPr>
          </a:p>
          <a:p>
            <a:pPr algn="just">
              <a:lnSpc>
                <a:spcPct val="150000"/>
              </a:lnSpc>
              <a:buNone/>
            </a:pPr>
            <a:r>
              <a:rPr lang="en-IN" sz="2000" b="1" dirty="0">
                <a:solidFill>
                  <a:srgbClr val="001D35"/>
                </a:solidFill>
                <a:latin typeface="Times New Roman" panose="02020603050405020304" pitchFamily="18" charset="0"/>
                <a:cs typeface="Times New Roman" panose="02020603050405020304" pitchFamily="18" charset="0"/>
              </a:rPr>
              <a:t>Vision: </a:t>
            </a:r>
            <a:r>
              <a:rPr lang="en-US" sz="2000" dirty="0">
                <a:latin typeface="Times New Roman" panose="02020603050405020304" pitchFamily="18" charset="0"/>
                <a:cs typeface="Times New Roman" panose="02020603050405020304" pitchFamily="18" charset="0"/>
              </a:rPr>
              <a:t>To become a global leader in digital transformation by offering innovative, reliable, and scalable IT solutions that empower clients to excel in the digital era. </a:t>
            </a:r>
            <a:endParaRPr lang="en-US" sz="2000" b="1" dirty="0">
              <a:latin typeface="Times New Roman" panose="02020603050405020304" pitchFamily="18" charset="0"/>
              <a:cs typeface="Times New Roman" panose="02020603050405020304" pitchFamily="18" charset="0"/>
            </a:endParaRPr>
          </a:p>
          <a:p>
            <a:pPr algn="just">
              <a:lnSpc>
                <a:spcPct val="150000"/>
              </a:lnSpc>
              <a:buNone/>
            </a:pPr>
            <a:r>
              <a:rPr lang="en-US" sz="2000" b="1" dirty="0">
                <a:latin typeface="Times New Roman" panose="02020603050405020304" pitchFamily="18" charset="0"/>
                <a:cs typeface="Times New Roman" panose="02020603050405020304" pitchFamily="18" charset="0"/>
              </a:rPr>
              <a:t>Mission: </a:t>
            </a:r>
            <a:r>
              <a:rPr lang="en-US" sz="2000" b="0" i="0" dirty="0">
                <a:solidFill>
                  <a:srgbClr val="333333"/>
                </a:solidFill>
                <a:effectLst/>
                <a:latin typeface="Times New Roman" panose="02020603050405020304" pitchFamily="18" charset="0"/>
                <a:cs typeface="Times New Roman" panose="02020603050405020304" pitchFamily="18" charset="0"/>
              </a:rPr>
              <a:t>Pentagon will work closely with customers to ensure that they achieve their short-term and long-term objectives. </a:t>
            </a:r>
          </a:p>
          <a:p>
            <a:pPr algn="just">
              <a:buNone/>
            </a:pPr>
            <a:r>
              <a:rPr lang="en-US" sz="2000" b="1" spc="-10" dirty="0">
                <a:effectLst/>
                <a:latin typeface="Times New Roman" panose="02020603050405020304" pitchFamily="18" charset="0"/>
                <a:ea typeface="Cambria" panose="02040503050406030204" pitchFamily="18" charset="0"/>
                <a:cs typeface="Times New Roman" panose="02020603050405020304" pitchFamily="18" charset="0"/>
              </a:rPr>
              <a:t>Services Provided by the Company</a:t>
            </a:r>
            <a:endParaRPr lang="en-IN" sz="2000" b="1" dirty="0">
              <a:effectLst/>
              <a:latin typeface="Times New Roman" panose="02020603050405020304" pitchFamily="18" charset="0"/>
              <a:ea typeface="Cambria" panose="02040503050406030204" pitchFamily="18" charset="0"/>
              <a:cs typeface="Times New Roman" panose="02020603050405020304" pitchFamily="18" charset="0"/>
            </a:endParaRPr>
          </a:p>
          <a:p>
            <a:pPr marL="800100" lvl="1" indent="-342900" algn="just">
              <a:spcBef>
                <a:spcPts val="1225"/>
              </a:spcBef>
              <a:buSzPts val="1150"/>
              <a:buFont typeface="Arial" panose="020B0604020202020204" pitchFamily="34" charset="0"/>
              <a:buChar char="•"/>
              <a:tabLst>
                <a:tab pos="645795" algn="l"/>
              </a:tabLst>
            </a:pPr>
            <a:r>
              <a:rPr lang="en-US" sz="2000" spc="0" dirty="0">
                <a:effectLst/>
                <a:latin typeface="Times New Roman" panose="02020603050405020304" pitchFamily="18" charset="0"/>
                <a:ea typeface="Symbol" panose="05050102010706020507" pitchFamily="18" charset="2"/>
                <a:cs typeface="Times New Roman" panose="02020603050405020304" pitchFamily="18" charset="0"/>
              </a:rPr>
              <a:t>Web</a:t>
            </a:r>
            <a:r>
              <a:rPr lang="en-US" sz="2000" spc="-25" dirty="0">
                <a:effectLst/>
                <a:latin typeface="Times New Roman" panose="02020603050405020304" pitchFamily="18" charset="0"/>
                <a:ea typeface="Symbol" panose="05050102010706020507" pitchFamily="18" charset="2"/>
                <a:cs typeface="Times New Roman" panose="02020603050405020304" pitchFamily="18" charset="0"/>
              </a:rPr>
              <a:t> </a:t>
            </a:r>
            <a:r>
              <a:rPr lang="en-US" sz="2000" spc="0" dirty="0">
                <a:effectLst/>
                <a:latin typeface="Times New Roman" panose="02020603050405020304" pitchFamily="18" charset="0"/>
                <a:ea typeface="Symbol" panose="05050102010706020507" pitchFamily="18" charset="2"/>
                <a:cs typeface="Times New Roman" panose="02020603050405020304" pitchFamily="18" charset="0"/>
              </a:rPr>
              <a:t>design</a:t>
            </a:r>
            <a:r>
              <a:rPr lang="en-US" sz="2000" spc="-25" dirty="0">
                <a:effectLst/>
                <a:latin typeface="Times New Roman" panose="02020603050405020304" pitchFamily="18" charset="0"/>
                <a:ea typeface="Symbol" panose="05050102010706020507" pitchFamily="18" charset="2"/>
                <a:cs typeface="Times New Roman" panose="02020603050405020304" pitchFamily="18" charset="0"/>
              </a:rPr>
              <a:t> </a:t>
            </a:r>
            <a:r>
              <a:rPr lang="en-US" sz="2000" spc="0" dirty="0">
                <a:effectLst/>
                <a:latin typeface="Times New Roman" panose="02020603050405020304" pitchFamily="18" charset="0"/>
                <a:ea typeface="Symbol" panose="05050102010706020507" pitchFamily="18" charset="2"/>
                <a:cs typeface="Times New Roman" panose="02020603050405020304" pitchFamily="18" charset="0"/>
              </a:rPr>
              <a:t>and </a:t>
            </a:r>
            <a:r>
              <a:rPr lang="en-US" sz="2000" spc="-10" dirty="0">
                <a:effectLst/>
                <a:latin typeface="Times New Roman" panose="02020603050405020304" pitchFamily="18" charset="0"/>
                <a:ea typeface="Symbol" panose="05050102010706020507" pitchFamily="18" charset="2"/>
                <a:cs typeface="Times New Roman" panose="02020603050405020304" pitchFamily="18" charset="0"/>
              </a:rPr>
              <a:t>development</a:t>
            </a:r>
          </a:p>
          <a:p>
            <a:pPr marL="800100" lvl="1" indent="-342900" algn="just">
              <a:spcBef>
                <a:spcPts val="1225"/>
              </a:spcBef>
              <a:buSzPts val="1150"/>
              <a:buFont typeface="Arial" panose="020B0604020202020204" pitchFamily="34" charset="0"/>
              <a:buChar char="•"/>
              <a:tabLst>
                <a:tab pos="645795" algn="l"/>
              </a:tabLst>
            </a:pPr>
            <a:r>
              <a:rPr lang="en-IN" sz="2000" spc="0" dirty="0">
                <a:effectLst/>
                <a:latin typeface="Times New Roman" panose="02020603050405020304" pitchFamily="18" charset="0"/>
                <a:ea typeface="Symbol" panose="05050102010706020507" pitchFamily="18" charset="2"/>
                <a:cs typeface="Times New Roman" panose="02020603050405020304" pitchFamily="18" charset="0"/>
              </a:rPr>
              <a:t>Services</a:t>
            </a:r>
          </a:p>
        </p:txBody>
      </p:sp>
    </p:spTree>
    <p:extLst>
      <p:ext uri="{BB962C8B-B14F-4D97-AF65-F5344CB8AC3E}">
        <p14:creationId xmlns:p14="http://schemas.microsoft.com/office/powerpoint/2010/main" val="1582750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80940-7DF3-4130-9A04-6A4C62BF12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37B15C6-2B45-2BE7-7835-F4CDE01454B8}"/>
              </a:ext>
            </a:extLst>
          </p:cNvPr>
          <p:cNvSpPr txBox="1"/>
          <p:nvPr/>
        </p:nvSpPr>
        <p:spPr>
          <a:xfrm>
            <a:off x="527968" y="297922"/>
            <a:ext cx="11321142" cy="707886"/>
          </a:xfrm>
          <a:prstGeom prst="rect">
            <a:avLst/>
          </a:prstGeom>
          <a:noFill/>
        </p:spPr>
        <p:txBody>
          <a:bodyPr wrap="square" rtlCol="0">
            <a:spAutoFit/>
          </a:bodyPr>
          <a:lstStyle/>
          <a:p>
            <a:r>
              <a:rPr lang="en-IN" sz="4000" b="1" dirty="0">
                <a:solidFill>
                  <a:srgbClr val="9B2D1F"/>
                </a:solidFill>
                <a:latin typeface="Times New Roman" panose="02020603050405020304" pitchFamily="18" charset="0"/>
                <a:cs typeface="Times New Roman" panose="02020603050405020304" pitchFamily="18" charset="0"/>
              </a:rPr>
              <a:t>INTERNSHIP EXPERIENCE &amp; ACTIVITIES</a:t>
            </a:r>
          </a:p>
        </p:txBody>
      </p:sp>
      <p:sp>
        <p:nvSpPr>
          <p:cNvPr id="11" name="Footer Placeholder 10">
            <a:extLst>
              <a:ext uri="{FF2B5EF4-FFF2-40B4-BE49-F238E27FC236}">
                <a16:creationId xmlns:a16="http://schemas.microsoft.com/office/drawing/2014/main" id="{DB4254C4-9976-8913-A34A-FD67666B8E1C}"/>
              </a:ext>
            </a:extLst>
          </p:cNvPr>
          <p:cNvSpPr>
            <a:spLocks noGrp="1"/>
          </p:cNvSpPr>
          <p:nvPr>
            <p:ph type="ftr" sz="quarter" idx="11"/>
          </p:nvPr>
        </p:nvSpPr>
        <p:spPr>
          <a:xfrm>
            <a:off x="142241" y="6459785"/>
            <a:ext cx="1883204" cy="365125"/>
          </a:xfrm>
        </p:spPr>
        <p:txBody>
          <a:bodyPr/>
          <a:lstStyle/>
          <a:p>
            <a:r>
              <a:rPr lang="en-IN" dirty="0"/>
              <a:t>Dept. of ECE, GMIT, DAVANGERE</a:t>
            </a:r>
          </a:p>
        </p:txBody>
      </p:sp>
      <p:sp>
        <p:nvSpPr>
          <p:cNvPr id="9" name="Slide Number Placeholder 8">
            <a:extLst>
              <a:ext uri="{FF2B5EF4-FFF2-40B4-BE49-F238E27FC236}">
                <a16:creationId xmlns:a16="http://schemas.microsoft.com/office/drawing/2014/main" id="{F712F914-990D-71F2-69F2-8DBEC4ACEBDB}"/>
              </a:ext>
            </a:extLst>
          </p:cNvPr>
          <p:cNvSpPr>
            <a:spLocks noGrp="1"/>
          </p:cNvSpPr>
          <p:nvPr>
            <p:ph type="sldNum" sz="quarter" idx="12"/>
          </p:nvPr>
        </p:nvSpPr>
        <p:spPr/>
        <p:txBody>
          <a:bodyPr/>
          <a:lstStyle/>
          <a:p>
            <a:fld id="{28254D9E-7D44-4180-A68A-D953F4FABDCA}" type="slidenum">
              <a:rPr lang="en-IN" smtClean="0"/>
              <a:t>4</a:t>
            </a:fld>
            <a:endParaRPr lang="en-IN"/>
          </a:p>
        </p:txBody>
      </p:sp>
      <p:sp>
        <p:nvSpPr>
          <p:cNvPr id="5" name="TextBox 4">
            <a:extLst>
              <a:ext uri="{FF2B5EF4-FFF2-40B4-BE49-F238E27FC236}">
                <a16:creationId xmlns:a16="http://schemas.microsoft.com/office/drawing/2014/main" id="{9CB5FCC0-0550-9127-1668-489FA6D17FE1}"/>
              </a:ext>
            </a:extLst>
          </p:cNvPr>
          <p:cNvSpPr txBox="1"/>
          <p:nvPr/>
        </p:nvSpPr>
        <p:spPr>
          <a:xfrm>
            <a:off x="527969" y="839669"/>
            <a:ext cx="10894438" cy="4461286"/>
          </a:xfrm>
          <a:prstGeom prst="rect">
            <a:avLst/>
          </a:prstGeom>
          <a:noFill/>
        </p:spPr>
        <p:txBody>
          <a:bodyPr wrap="square">
            <a:spAutoFit/>
          </a:bodyPr>
          <a:lstStyle/>
          <a:p>
            <a:pPr marL="45720" indent="0">
              <a:lnSpc>
                <a:spcPct val="160000"/>
              </a:lnSpc>
              <a:buNone/>
            </a:pPr>
            <a:r>
              <a:rPr lang="en-IN" sz="2000" b="1" dirty="0">
                <a:latin typeface="Times New Roman" panose="02020603050405020304" pitchFamily="18" charset="0"/>
                <a:cs typeface="Times New Roman" panose="02020603050405020304" pitchFamily="18" charset="0"/>
              </a:rPr>
              <a:t>Role: Java Full Stack Intern</a:t>
            </a:r>
          </a:p>
          <a:p>
            <a:pPr marL="45720" indent="0">
              <a:lnSpc>
                <a:spcPct val="160000"/>
              </a:lnSpc>
              <a:buNone/>
            </a:pPr>
            <a:r>
              <a:rPr lang="en-IN" sz="2000" b="1" dirty="0">
                <a:latin typeface="Times New Roman" panose="02020603050405020304" pitchFamily="18" charset="0"/>
                <a:cs typeface="Times New Roman" panose="02020603050405020304" pitchFamily="18" charset="0"/>
              </a:rPr>
              <a:t>Key Responsibilities:</a:t>
            </a:r>
          </a:p>
          <a:p>
            <a:pPr marL="45720" indent="0">
              <a:lnSpc>
                <a:spcPct val="160000"/>
              </a:lnSpc>
              <a:buNone/>
            </a:pPr>
            <a:endParaRPr lang="en-IN" sz="2000" b="1" u="sng" dirty="0">
              <a:latin typeface="Times New Roman" panose="02020603050405020304" pitchFamily="18" charset="0"/>
              <a:cs typeface="Times New Roman" panose="02020603050405020304" pitchFamily="18" charset="0"/>
            </a:endParaRP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a:p>
            <a:pPr marL="45720" indent="0">
              <a:lnSpc>
                <a:spcPct val="160000"/>
              </a:lnSpc>
              <a:buNone/>
            </a:pPr>
            <a:r>
              <a:rPr lang="en-IN" sz="2000" b="1" dirty="0">
                <a:latin typeface="Times New Roman" panose="02020603050405020304" pitchFamily="18" charset="0"/>
                <a:cs typeface="Times New Roman" panose="02020603050405020304" pitchFamily="18" charset="0"/>
              </a:rPr>
              <a:t>Skills Acquired</a:t>
            </a:r>
          </a:p>
          <a:p>
            <a:pPr marL="45720" indent="0">
              <a:lnSpc>
                <a:spcPct val="160000"/>
              </a:lnSpc>
              <a:buNone/>
            </a:pPr>
            <a:endParaRPr lang="en-IN" sz="2000"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ADBB9584-0B59-DA9B-6DB5-B8A8B767A46B}"/>
              </a:ext>
            </a:extLst>
          </p:cNvPr>
          <p:cNvSpPr>
            <a:spLocks noChangeArrowheads="1"/>
          </p:cNvSpPr>
          <p:nvPr/>
        </p:nvSpPr>
        <p:spPr bwMode="auto">
          <a:xfrm>
            <a:off x="769593" y="1722699"/>
            <a:ext cx="8090703" cy="234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Database Design and Management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API Development and Integration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Collaboration with Cross-Functional Teams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Deployment, Testing, and Maintenance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Frontend and Backend Development</a:t>
            </a:r>
          </a:p>
        </p:txBody>
      </p:sp>
      <p:sp>
        <p:nvSpPr>
          <p:cNvPr id="7" name="Rectangle 2">
            <a:extLst>
              <a:ext uri="{FF2B5EF4-FFF2-40B4-BE49-F238E27FC236}">
                <a16:creationId xmlns:a16="http://schemas.microsoft.com/office/drawing/2014/main" id="{ED05E797-DC87-AC91-23B6-03F3EEB23BCB}"/>
              </a:ext>
            </a:extLst>
          </p:cNvPr>
          <p:cNvSpPr>
            <a:spLocks noChangeArrowheads="1"/>
          </p:cNvSpPr>
          <p:nvPr/>
        </p:nvSpPr>
        <p:spPr bwMode="auto">
          <a:xfrm>
            <a:off x="769593" y="4694132"/>
            <a:ext cx="6100003" cy="1421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Hands-on Experience with Java and Spring Boot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Ability to Build Responsive UIs using React.js/Angular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Proficiency in Writing and Managing SQL Queries</a:t>
            </a:r>
          </a:p>
        </p:txBody>
      </p:sp>
    </p:spTree>
    <p:extLst>
      <p:ext uri="{BB962C8B-B14F-4D97-AF65-F5344CB8AC3E}">
        <p14:creationId xmlns:p14="http://schemas.microsoft.com/office/powerpoint/2010/main" val="1769791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CE4D4-B942-62A9-E787-661E7CCEC3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1D482B-6BD2-D639-DD87-81225FD1488C}"/>
              </a:ext>
            </a:extLst>
          </p:cNvPr>
          <p:cNvSpPr txBox="1"/>
          <p:nvPr/>
        </p:nvSpPr>
        <p:spPr>
          <a:xfrm>
            <a:off x="463422" y="373225"/>
            <a:ext cx="11321142" cy="707886"/>
          </a:xfrm>
          <a:prstGeom prst="rect">
            <a:avLst/>
          </a:prstGeom>
          <a:noFill/>
        </p:spPr>
        <p:txBody>
          <a:bodyPr wrap="square" rtlCol="0">
            <a:spAutoFit/>
          </a:bodyPr>
          <a:lstStyle/>
          <a:p>
            <a:r>
              <a:rPr lang="en-US" sz="4000" b="1" dirty="0">
                <a:solidFill>
                  <a:schemeClr val="accent2"/>
                </a:solidFill>
                <a:latin typeface="Times New Roman" panose="02020603050405020304" pitchFamily="18" charset="0"/>
                <a:cs typeface="Times New Roman" panose="02020603050405020304" pitchFamily="18" charset="0"/>
              </a:rPr>
              <a:t>PROJECT DETAILS</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84DBB8FF-5A20-4957-5AE3-957729958089}"/>
              </a:ext>
            </a:extLst>
          </p:cNvPr>
          <p:cNvSpPr>
            <a:spLocks noGrp="1"/>
          </p:cNvSpPr>
          <p:nvPr>
            <p:ph type="ftr" sz="quarter" idx="11"/>
          </p:nvPr>
        </p:nvSpPr>
        <p:spPr>
          <a:xfrm>
            <a:off x="142241" y="6449953"/>
            <a:ext cx="1824211" cy="365125"/>
          </a:xfrm>
        </p:spPr>
        <p:txBody>
          <a:bodyPr/>
          <a:lstStyle/>
          <a:p>
            <a:r>
              <a:rPr lang="en-IN" dirty="0"/>
              <a:t>Dept. of ECE, GMIT, DAVANGERE</a:t>
            </a:r>
          </a:p>
        </p:txBody>
      </p:sp>
      <p:sp>
        <p:nvSpPr>
          <p:cNvPr id="9" name="Slide Number Placeholder 8">
            <a:extLst>
              <a:ext uri="{FF2B5EF4-FFF2-40B4-BE49-F238E27FC236}">
                <a16:creationId xmlns:a16="http://schemas.microsoft.com/office/drawing/2014/main" id="{1C047958-29BD-C84F-6C01-07F67D193423}"/>
              </a:ext>
            </a:extLst>
          </p:cNvPr>
          <p:cNvSpPr>
            <a:spLocks noGrp="1"/>
          </p:cNvSpPr>
          <p:nvPr>
            <p:ph type="sldNum" sz="quarter" idx="12"/>
          </p:nvPr>
        </p:nvSpPr>
        <p:spPr/>
        <p:txBody>
          <a:bodyPr/>
          <a:lstStyle/>
          <a:p>
            <a:fld id="{28254D9E-7D44-4180-A68A-D953F4FABDCA}" type="slidenum">
              <a:rPr lang="en-IN" smtClean="0"/>
              <a:t>5</a:t>
            </a:fld>
            <a:endParaRPr lang="en-IN"/>
          </a:p>
        </p:txBody>
      </p:sp>
      <p:sp>
        <p:nvSpPr>
          <p:cNvPr id="3" name="Rectangle 1">
            <a:extLst>
              <a:ext uri="{FF2B5EF4-FFF2-40B4-BE49-F238E27FC236}">
                <a16:creationId xmlns:a16="http://schemas.microsoft.com/office/drawing/2014/main" id="{CF360CAE-7B44-C85E-E542-7738593C2F24}"/>
              </a:ext>
            </a:extLst>
          </p:cNvPr>
          <p:cNvSpPr>
            <a:spLocks noChangeArrowheads="1"/>
          </p:cNvSpPr>
          <p:nvPr/>
        </p:nvSpPr>
        <p:spPr bwMode="auto">
          <a:xfrm rot="10800000" flipV="1">
            <a:off x="825909" y="1288919"/>
            <a:ext cx="5781368" cy="378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Hospital Management System (HMS) is a computer program that helps hospitals run smoothly by managing all their important tasks in one place. It takes care of things like keeping patient records, setting appointments, managing medicines and supplies, and organizing staff work. By using this system, hospitals can save time, reduce mistakes, and make sure all departments work well together. This helps doctors and nurses give better care to patients and makes the hospital more efficient overall.</a:t>
            </a:r>
          </a:p>
        </p:txBody>
      </p:sp>
      <p:pic>
        <p:nvPicPr>
          <p:cNvPr id="1028" name="Picture 4" descr="The 'Must-Have' Modules of A Hospital Management System - HATI International">
            <a:extLst>
              <a:ext uri="{FF2B5EF4-FFF2-40B4-BE49-F238E27FC236}">
                <a16:creationId xmlns:a16="http://schemas.microsoft.com/office/drawing/2014/main" id="{DD968431-B706-525E-C853-FFCB3885F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0735" y="1268362"/>
            <a:ext cx="4820264" cy="3519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5038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B42CA-B966-BFD5-02E3-8B09E32A315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8D4F48-EB79-F4F0-8B4E-F3C67DD1C476}"/>
              </a:ext>
            </a:extLst>
          </p:cNvPr>
          <p:cNvSpPr txBox="1"/>
          <p:nvPr/>
        </p:nvSpPr>
        <p:spPr>
          <a:xfrm>
            <a:off x="233082" y="172720"/>
            <a:ext cx="11551482"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OBJECTIVES</a:t>
            </a:r>
          </a:p>
        </p:txBody>
      </p:sp>
      <p:sp>
        <p:nvSpPr>
          <p:cNvPr id="10" name="Footer Placeholder 9">
            <a:extLst>
              <a:ext uri="{FF2B5EF4-FFF2-40B4-BE49-F238E27FC236}">
                <a16:creationId xmlns:a16="http://schemas.microsoft.com/office/drawing/2014/main" id="{BA805F93-4F13-273A-67B6-133088ECB32B}"/>
              </a:ext>
            </a:extLst>
          </p:cNvPr>
          <p:cNvSpPr>
            <a:spLocks noGrp="1"/>
          </p:cNvSpPr>
          <p:nvPr>
            <p:ph type="ftr" sz="quarter" idx="11"/>
          </p:nvPr>
        </p:nvSpPr>
        <p:spPr>
          <a:xfrm>
            <a:off x="0" y="6459785"/>
            <a:ext cx="2123439" cy="398215"/>
          </a:xfrm>
        </p:spPr>
        <p:txBody>
          <a:bodyPr/>
          <a:lstStyle/>
          <a:p>
            <a:r>
              <a:rPr lang="en-IN" dirty="0"/>
              <a:t>Dept. of ECE, GMIT, DAVANGERE</a:t>
            </a:r>
          </a:p>
        </p:txBody>
      </p:sp>
      <p:sp>
        <p:nvSpPr>
          <p:cNvPr id="7" name="Slide Number Placeholder 6">
            <a:extLst>
              <a:ext uri="{FF2B5EF4-FFF2-40B4-BE49-F238E27FC236}">
                <a16:creationId xmlns:a16="http://schemas.microsoft.com/office/drawing/2014/main" id="{B2DE5C87-4C93-1A0E-B0A1-E8F04467A3A6}"/>
              </a:ext>
            </a:extLst>
          </p:cNvPr>
          <p:cNvSpPr>
            <a:spLocks noGrp="1"/>
          </p:cNvSpPr>
          <p:nvPr>
            <p:ph type="sldNum" sz="quarter" idx="12"/>
          </p:nvPr>
        </p:nvSpPr>
        <p:spPr/>
        <p:txBody>
          <a:bodyPr/>
          <a:lstStyle/>
          <a:p>
            <a:fld id="{28254D9E-7D44-4180-A68A-D953F4FABDCA}" type="slidenum">
              <a:rPr lang="en-IN" smtClean="0"/>
              <a:t>6</a:t>
            </a:fld>
            <a:endParaRPr lang="en-IN"/>
          </a:p>
        </p:txBody>
      </p:sp>
      <p:sp>
        <p:nvSpPr>
          <p:cNvPr id="3" name="Rectangle 1">
            <a:extLst>
              <a:ext uri="{FF2B5EF4-FFF2-40B4-BE49-F238E27FC236}">
                <a16:creationId xmlns:a16="http://schemas.microsoft.com/office/drawing/2014/main" id="{4774CBF2-8F55-A38C-31FB-916500949F74}"/>
              </a:ext>
            </a:extLst>
          </p:cNvPr>
          <p:cNvSpPr>
            <a:spLocks noChangeArrowheads="1"/>
          </p:cNvSpPr>
          <p:nvPr/>
        </p:nvSpPr>
        <p:spPr bwMode="auto">
          <a:xfrm rot="10800000" flipV="1">
            <a:off x="373625" y="1228566"/>
            <a:ext cx="10838856" cy="3787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defTabSz="914400" eaLnBrk="0" fontAlgn="base" hangingPunct="0">
              <a:lnSpc>
                <a:spcPct val="150000"/>
              </a:lnSpc>
              <a:spcBef>
                <a:spcPct val="0"/>
              </a:spcBef>
              <a:spcAft>
                <a:spcPct val="0"/>
              </a:spcAft>
              <a:buFont typeface="+mj-lt"/>
              <a:buAutoNum type="arabicPeriod"/>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Patient Care</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help doctors and nurses give fast and accurate care to patients by having all information in one place.</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Record Keeping</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store patient details, medical history, and reports safely and neatly, so they are easy to find when needed.</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Quick Appointments</a:t>
            </a:r>
            <a:r>
              <a:rPr lang="en-US" altLang="en-US" dirty="0">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make booking, changing, or canceling appointments easier for both staff and patients.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Smooth Staff Management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help with staff scheduling, attendance, and other tasks.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Better Communication</a:t>
            </a:r>
            <a:r>
              <a:rPr lang="en-US" altLang="en-US" dirty="0">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improve how departments and staff members share information and work together.</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lang="en-US" b="1" dirty="0"/>
              <a:t>Save Time and Costs:</a:t>
            </a:r>
            <a:r>
              <a:rPr lang="en-US" dirty="0"/>
              <a:t> To make hospital work faster and reduce extra costs by using technology instead of doing everything by hand.</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5004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1A01D-F059-196E-089E-8E0E2633F1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719CF95-615B-CC06-FF23-8BECFAD1EB9D}"/>
              </a:ext>
            </a:extLst>
          </p:cNvPr>
          <p:cNvSpPr txBox="1"/>
          <p:nvPr/>
        </p:nvSpPr>
        <p:spPr>
          <a:xfrm>
            <a:off x="152400" y="232163"/>
            <a:ext cx="11551482" cy="1323439"/>
          </a:xfrm>
          <a:prstGeom prst="rect">
            <a:avLst/>
          </a:prstGeom>
          <a:noFill/>
        </p:spPr>
        <p:txBody>
          <a:bodyPr wrap="square" rtlCol="0">
            <a:spAutoFit/>
          </a:bodyPr>
          <a:lstStyle/>
          <a:p>
            <a:r>
              <a:rPr lang="en-US" sz="4000" b="1" dirty="0">
                <a:solidFill>
                  <a:schemeClr val="accent2"/>
                </a:solidFill>
                <a:latin typeface="Times New Roman" panose="02020603050405020304" pitchFamily="18" charset="0"/>
                <a:cs typeface="Times New Roman" panose="02020603050405020304" pitchFamily="18" charset="0"/>
              </a:rPr>
              <a:t>SYSTEM ARCHITECTURE</a:t>
            </a:r>
          </a:p>
          <a:p>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ABFF112-FFD8-52B3-01A3-CCC129900871}"/>
              </a:ext>
            </a:extLst>
          </p:cNvPr>
          <p:cNvSpPr txBox="1"/>
          <p:nvPr/>
        </p:nvSpPr>
        <p:spPr>
          <a:xfrm>
            <a:off x="4399845" y="5901510"/>
            <a:ext cx="295101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 : Architecture diagram</a:t>
            </a:r>
          </a:p>
        </p:txBody>
      </p:sp>
      <p:sp>
        <p:nvSpPr>
          <p:cNvPr id="12" name="Footer Placeholder 11">
            <a:extLst>
              <a:ext uri="{FF2B5EF4-FFF2-40B4-BE49-F238E27FC236}">
                <a16:creationId xmlns:a16="http://schemas.microsoft.com/office/drawing/2014/main" id="{16D89CD9-2BF5-E661-88C7-AF2552CB1A4B}"/>
              </a:ext>
            </a:extLst>
          </p:cNvPr>
          <p:cNvSpPr>
            <a:spLocks noGrp="1"/>
          </p:cNvSpPr>
          <p:nvPr>
            <p:ph type="ftr" sz="quarter" idx="11"/>
          </p:nvPr>
        </p:nvSpPr>
        <p:spPr>
          <a:xfrm>
            <a:off x="1" y="6459785"/>
            <a:ext cx="1818639" cy="365125"/>
          </a:xfrm>
        </p:spPr>
        <p:txBody>
          <a:bodyPr/>
          <a:lstStyle/>
          <a:p>
            <a:r>
              <a:rPr lang="en-IN" dirty="0"/>
              <a:t>Dept. of ECE, GMIT, DAVANGERE</a:t>
            </a:r>
          </a:p>
        </p:txBody>
      </p:sp>
      <p:sp>
        <p:nvSpPr>
          <p:cNvPr id="10" name="Slide Number Placeholder 9">
            <a:extLst>
              <a:ext uri="{FF2B5EF4-FFF2-40B4-BE49-F238E27FC236}">
                <a16:creationId xmlns:a16="http://schemas.microsoft.com/office/drawing/2014/main" id="{0AB142D1-8427-4B36-5580-91DD86E2C409}"/>
              </a:ext>
            </a:extLst>
          </p:cNvPr>
          <p:cNvSpPr>
            <a:spLocks noGrp="1"/>
          </p:cNvSpPr>
          <p:nvPr>
            <p:ph type="sldNum" sz="quarter" idx="12"/>
          </p:nvPr>
        </p:nvSpPr>
        <p:spPr/>
        <p:txBody>
          <a:bodyPr/>
          <a:lstStyle/>
          <a:p>
            <a:fld id="{28254D9E-7D44-4180-A68A-D953F4FABDCA}" type="slidenum">
              <a:rPr lang="en-IN" smtClean="0"/>
              <a:t>7</a:t>
            </a:fld>
            <a:endParaRPr lang="en-IN"/>
          </a:p>
        </p:txBody>
      </p:sp>
      <p:pic>
        <p:nvPicPr>
          <p:cNvPr id="3" name="Picture 2">
            <a:extLst>
              <a:ext uri="{FF2B5EF4-FFF2-40B4-BE49-F238E27FC236}">
                <a16:creationId xmlns:a16="http://schemas.microsoft.com/office/drawing/2014/main" id="{7955FC88-7B0B-2DA5-3F42-3DA60B5CC30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71252" y="1197610"/>
            <a:ext cx="7157883" cy="4462780"/>
          </a:xfrm>
          <a:prstGeom prst="rect">
            <a:avLst/>
          </a:prstGeom>
          <a:noFill/>
          <a:ln>
            <a:noFill/>
          </a:ln>
        </p:spPr>
      </p:pic>
      <p:cxnSp>
        <p:nvCxnSpPr>
          <p:cNvPr id="7" name="Straight Arrow Connector 6">
            <a:extLst>
              <a:ext uri="{FF2B5EF4-FFF2-40B4-BE49-F238E27FC236}">
                <a16:creationId xmlns:a16="http://schemas.microsoft.com/office/drawing/2014/main" id="{A90C968A-97E3-19F4-A414-6D421F1592D9}"/>
              </a:ext>
            </a:extLst>
          </p:cNvPr>
          <p:cNvCxnSpPr/>
          <p:nvPr/>
        </p:nvCxnSpPr>
        <p:spPr>
          <a:xfrm>
            <a:off x="6754761" y="1887794"/>
            <a:ext cx="79641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66689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AE3BE-D8A2-50BF-0882-81C9B051F5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CA952B5-CD86-2D0D-A8C6-519E0478C500}"/>
              </a:ext>
            </a:extLst>
          </p:cNvPr>
          <p:cNvSpPr txBox="1"/>
          <p:nvPr/>
        </p:nvSpPr>
        <p:spPr>
          <a:xfrm>
            <a:off x="123690" y="43031"/>
            <a:ext cx="12068310"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SOFTWARE AND HARDWARE REQUIREMENTS</a:t>
            </a:r>
          </a:p>
        </p:txBody>
      </p:sp>
      <p:sp>
        <p:nvSpPr>
          <p:cNvPr id="5" name="TextBox 4">
            <a:extLst>
              <a:ext uri="{FF2B5EF4-FFF2-40B4-BE49-F238E27FC236}">
                <a16:creationId xmlns:a16="http://schemas.microsoft.com/office/drawing/2014/main" id="{C5D5AA27-3999-4291-C547-9980076677B0}"/>
              </a:ext>
            </a:extLst>
          </p:cNvPr>
          <p:cNvSpPr txBox="1"/>
          <p:nvPr/>
        </p:nvSpPr>
        <p:spPr>
          <a:xfrm>
            <a:off x="451412" y="1111170"/>
            <a:ext cx="5644587" cy="966290"/>
          </a:xfrm>
          <a:prstGeom prst="rect">
            <a:avLst/>
          </a:prstGeom>
          <a:noFill/>
        </p:spPr>
        <p:txBody>
          <a:bodyPr wrap="square">
            <a:spAutoFit/>
          </a:bodyPr>
          <a:lstStyle/>
          <a:p>
            <a:pPr algn="just">
              <a:lnSpc>
                <a:spcPct val="150000"/>
              </a:lnSpc>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Hardware Requirements: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514350" lvl="0" indent="-514350" algn="just">
              <a:lnSpc>
                <a:spcPct val="150000"/>
              </a:lnSpc>
              <a:buFont typeface="+mj-lt"/>
              <a:buAutoNum type="arabicPeriod"/>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672AA515-ECB3-E992-0E74-262A0CE79459}"/>
              </a:ext>
            </a:extLst>
          </p:cNvPr>
          <p:cNvSpPr txBox="1"/>
          <p:nvPr/>
        </p:nvSpPr>
        <p:spPr>
          <a:xfrm>
            <a:off x="6731449" y="1111170"/>
            <a:ext cx="4074289" cy="1070549"/>
          </a:xfrm>
          <a:prstGeom prst="rect">
            <a:avLst/>
          </a:prstGeom>
          <a:noFill/>
        </p:spPr>
        <p:txBody>
          <a:bodyPr wrap="square">
            <a:spAutoFit/>
          </a:bodyPr>
          <a:lstStyle/>
          <a:p>
            <a:pPr algn="just">
              <a:lnSpc>
                <a:spcPct val="150000"/>
              </a:lnSpc>
              <a:spcAft>
                <a:spcPts val="800"/>
              </a:spcAft>
            </a:pPr>
            <a:r>
              <a:rPr lang="en-US" sz="2000" b="1" kern="100" dirty="0">
                <a:effectLst/>
                <a:latin typeface="Times New Roman" panose="02020603050405020304" pitchFamily="18" charset="0"/>
                <a:ea typeface="Calibri" panose="020F0502020204030204" pitchFamily="34" charset="0"/>
                <a:cs typeface="Times New Roman" panose="02020603050405020304" pitchFamily="18" charset="0"/>
              </a:rPr>
              <a:t>Software Requirements: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mj-lt"/>
              <a:buAutoNum type="arabicPeriod"/>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34AC595C-2072-BC4D-C893-A0AC19691BD8}"/>
              </a:ext>
            </a:extLst>
          </p:cNvPr>
          <p:cNvSpPr>
            <a:spLocks noGrp="1"/>
          </p:cNvSpPr>
          <p:nvPr>
            <p:ph type="ftr" sz="quarter" idx="11"/>
          </p:nvPr>
        </p:nvSpPr>
        <p:spPr>
          <a:xfrm>
            <a:off x="1" y="6459785"/>
            <a:ext cx="1930399" cy="365125"/>
          </a:xfrm>
        </p:spPr>
        <p:txBody>
          <a:bodyPr/>
          <a:lstStyle/>
          <a:p>
            <a:r>
              <a:rPr lang="en-IN" dirty="0"/>
              <a:t>Dept. of ECE, GMIT, DAVANGERE</a:t>
            </a:r>
          </a:p>
        </p:txBody>
      </p:sp>
      <p:sp>
        <p:nvSpPr>
          <p:cNvPr id="9" name="Slide Number Placeholder 8">
            <a:extLst>
              <a:ext uri="{FF2B5EF4-FFF2-40B4-BE49-F238E27FC236}">
                <a16:creationId xmlns:a16="http://schemas.microsoft.com/office/drawing/2014/main" id="{A5F87286-239D-DB8D-76FD-BE114CD98EB1}"/>
              </a:ext>
            </a:extLst>
          </p:cNvPr>
          <p:cNvSpPr>
            <a:spLocks noGrp="1"/>
          </p:cNvSpPr>
          <p:nvPr>
            <p:ph type="sldNum" sz="quarter" idx="12"/>
          </p:nvPr>
        </p:nvSpPr>
        <p:spPr/>
        <p:txBody>
          <a:bodyPr/>
          <a:lstStyle/>
          <a:p>
            <a:fld id="{28254D9E-7D44-4180-A68A-D953F4FABDCA}" type="slidenum">
              <a:rPr lang="en-IN" smtClean="0"/>
              <a:t>8</a:t>
            </a:fld>
            <a:endParaRPr lang="en-IN"/>
          </a:p>
        </p:txBody>
      </p:sp>
      <p:sp>
        <p:nvSpPr>
          <p:cNvPr id="3" name="Rectangle 1">
            <a:extLst>
              <a:ext uri="{FF2B5EF4-FFF2-40B4-BE49-F238E27FC236}">
                <a16:creationId xmlns:a16="http://schemas.microsoft.com/office/drawing/2014/main" id="{E82C3F58-C0B2-65F8-D336-8E05C14A26E9}"/>
              </a:ext>
            </a:extLst>
          </p:cNvPr>
          <p:cNvSpPr>
            <a:spLocks noChangeArrowheads="1"/>
          </p:cNvSpPr>
          <p:nvPr/>
        </p:nvSpPr>
        <p:spPr bwMode="auto">
          <a:xfrm>
            <a:off x="451412" y="1908975"/>
            <a:ext cx="5405378" cy="280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Processor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Intel Core i5 / Xeon or higher</a:t>
            </a:r>
          </a:p>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8 GB (minimum), 16 GB (recommended)</a:t>
            </a:r>
          </a:p>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SSD with at least 500 GB</a:t>
            </a:r>
          </a:p>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High-speed internet (≥100 Mbps)</a:t>
            </a:r>
          </a:p>
          <a:p>
            <a:pPr marL="182563" marR="0" lvl="0" indent="-182563"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Backup</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External or cloud backup drive for daily data backups</a:t>
            </a:r>
          </a:p>
        </p:txBody>
      </p:sp>
      <p:sp>
        <p:nvSpPr>
          <p:cNvPr id="4" name="Rectangle 2">
            <a:extLst>
              <a:ext uri="{FF2B5EF4-FFF2-40B4-BE49-F238E27FC236}">
                <a16:creationId xmlns:a16="http://schemas.microsoft.com/office/drawing/2014/main" id="{783B3F4C-3D3B-A724-C348-E7A4B7A436DF}"/>
              </a:ext>
            </a:extLst>
          </p:cNvPr>
          <p:cNvSpPr>
            <a:spLocks noChangeArrowheads="1"/>
          </p:cNvSpPr>
          <p:nvPr/>
        </p:nvSpPr>
        <p:spPr bwMode="auto">
          <a:xfrm>
            <a:off x="6492240" y="1971024"/>
            <a:ext cx="5248348"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Programming Language)</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Spring Boot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Framework)</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lang="en-US" altLang="en-US" sz="2000" b="1" dirty="0">
                <a:latin typeface="Times New Roman" panose="02020603050405020304" pitchFamily="18" charset="0"/>
                <a:cs typeface="Times New Roman" panose="02020603050405020304" pitchFamily="18" charset="0"/>
              </a:rPr>
              <a:t>PostgreSQL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(Relational Database)</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HTML, CSS, JavaScript (Frontend Technologies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Eclipse IDE (Development Environment)</a:t>
            </a:r>
          </a:p>
          <a:p>
            <a:pPr marL="274638" marR="0" lvl="0" indent="-274638"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Apache Tomcat (Deployment Server)</a:t>
            </a:r>
          </a:p>
        </p:txBody>
      </p:sp>
    </p:spTree>
    <p:extLst>
      <p:ext uri="{BB962C8B-B14F-4D97-AF65-F5344CB8AC3E}">
        <p14:creationId xmlns:p14="http://schemas.microsoft.com/office/powerpoint/2010/main" val="13204249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C8753-37D3-7457-E602-E064FFDC190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B82FB2-55CA-49D0-9206-A4DA059C19CA}"/>
              </a:ext>
            </a:extLst>
          </p:cNvPr>
          <p:cNvSpPr txBox="1"/>
          <p:nvPr/>
        </p:nvSpPr>
        <p:spPr>
          <a:xfrm>
            <a:off x="123690" y="43031"/>
            <a:ext cx="11533551"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METHODOLOGY</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10" name="Footer Placeholder 9">
            <a:extLst>
              <a:ext uri="{FF2B5EF4-FFF2-40B4-BE49-F238E27FC236}">
                <a16:creationId xmlns:a16="http://schemas.microsoft.com/office/drawing/2014/main" id="{8D182CC2-B481-9003-E4DC-2C3BBAAAB17E}"/>
              </a:ext>
            </a:extLst>
          </p:cNvPr>
          <p:cNvSpPr>
            <a:spLocks noGrp="1"/>
          </p:cNvSpPr>
          <p:nvPr>
            <p:ph type="ftr" sz="quarter" idx="11"/>
          </p:nvPr>
        </p:nvSpPr>
        <p:spPr>
          <a:xfrm>
            <a:off x="123690" y="6440003"/>
            <a:ext cx="1788160" cy="365125"/>
          </a:xfrm>
        </p:spPr>
        <p:txBody>
          <a:bodyPr/>
          <a:lstStyle/>
          <a:p>
            <a:r>
              <a:rPr lang="en-IN" dirty="0"/>
              <a:t>Dept. of ECE, GMIT, DAVANGERE</a:t>
            </a:r>
          </a:p>
        </p:txBody>
      </p:sp>
      <p:sp>
        <p:nvSpPr>
          <p:cNvPr id="7" name="Slide Number Placeholder 6">
            <a:extLst>
              <a:ext uri="{FF2B5EF4-FFF2-40B4-BE49-F238E27FC236}">
                <a16:creationId xmlns:a16="http://schemas.microsoft.com/office/drawing/2014/main" id="{EEE97837-B878-B183-850B-7A3F8EF5A893}"/>
              </a:ext>
            </a:extLst>
          </p:cNvPr>
          <p:cNvSpPr>
            <a:spLocks noGrp="1"/>
          </p:cNvSpPr>
          <p:nvPr>
            <p:ph type="sldNum" sz="quarter" idx="12"/>
          </p:nvPr>
        </p:nvSpPr>
        <p:spPr/>
        <p:txBody>
          <a:bodyPr/>
          <a:lstStyle/>
          <a:p>
            <a:fld id="{28254D9E-7D44-4180-A68A-D953F4FABDCA}" type="slidenum">
              <a:rPr lang="en-IN" smtClean="0"/>
              <a:t>9</a:t>
            </a:fld>
            <a:endParaRPr lang="en-IN"/>
          </a:p>
        </p:txBody>
      </p:sp>
      <p:sp>
        <p:nvSpPr>
          <p:cNvPr id="4" name="TextBox 3">
            <a:extLst>
              <a:ext uri="{FF2B5EF4-FFF2-40B4-BE49-F238E27FC236}">
                <a16:creationId xmlns:a16="http://schemas.microsoft.com/office/drawing/2014/main" id="{5A15EE59-1A31-BCF1-0020-9D51D288FF37}"/>
              </a:ext>
            </a:extLst>
          </p:cNvPr>
          <p:cNvSpPr txBox="1"/>
          <p:nvPr/>
        </p:nvSpPr>
        <p:spPr>
          <a:xfrm>
            <a:off x="429244" y="559644"/>
            <a:ext cx="10127226" cy="5900141"/>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1. Requirement Gathering: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First, we collect all the necessary information from hospital staff, administrators, and patients. We note what the system should do (like booking appointments and managing bills) and how it should perform (like being secure and fast).</a:t>
            </a:r>
          </a:p>
          <a:p>
            <a:pPr>
              <a:lnSpc>
                <a:spcPct val="150000"/>
              </a:lnSpc>
              <a:buNone/>
            </a:pPr>
            <a:r>
              <a:rPr lang="en-US" b="1" dirty="0">
                <a:latin typeface="Times New Roman" panose="02020603050405020304" pitchFamily="18" charset="0"/>
                <a:cs typeface="Times New Roman" panose="02020603050405020304" pitchFamily="18" charset="0"/>
              </a:rPr>
              <a:t>2. System Design: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We plan how the system will work. It’s divided into layers to keep it organized and scalable. The backend uses Spring Boot to build secure APIs, while the frontend is designed to be simple and easy to use.</a:t>
            </a:r>
          </a:p>
          <a:p>
            <a:pPr>
              <a:lnSpc>
                <a:spcPct val="150000"/>
              </a:lnSpc>
              <a:buNone/>
            </a:pPr>
            <a:r>
              <a:rPr lang="en-US" b="1" dirty="0">
                <a:latin typeface="Times New Roman" panose="02020603050405020304" pitchFamily="18" charset="0"/>
                <a:cs typeface="Times New Roman" panose="02020603050405020304" pitchFamily="18" charset="0"/>
              </a:rPr>
              <a:t>3. Database Modeling: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We create diagrams to show how different parts of the system (like Patients, Doctors, Appointments) are connected and what data they will store.</a:t>
            </a:r>
          </a:p>
          <a:p>
            <a:pPr>
              <a:lnSpc>
                <a:spcPct val="150000"/>
              </a:lnSpc>
              <a:buNone/>
            </a:pPr>
            <a:r>
              <a:rPr lang="en-US" b="1" dirty="0">
                <a:latin typeface="Times New Roman" panose="02020603050405020304" pitchFamily="18" charset="0"/>
                <a:cs typeface="Times New Roman" panose="02020603050405020304" pitchFamily="18" charset="0"/>
              </a:rPr>
              <a:t>4. Implementation: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We use the Agile method, building the system step-by-step. Backend APIs are developed first, then connected to the frontend using API calls for real-time updates.</a:t>
            </a:r>
          </a:p>
          <a:p>
            <a:pPr marL="182563" indent="-182563">
              <a:lnSpc>
                <a:spcPct val="150000"/>
              </a:lnSpc>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9899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7FB58-724C-03CD-6698-69B64489DB19}"/>
            </a:ext>
          </a:extLst>
        </p:cNvPr>
        <p:cNvGrpSpPr/>
        <p:nvPr/>
      </p:nvGrpSpPr>
      <p:grpSpPr>
        <a:xfrm>
          <a:off x="0" y="0"/>
          <a:ext cx="0" cy="0"/>
          <a:chOff x="0" y="0"/>
          <a:chExt cx="0" cy="0"/>
        </a:xfrm>
      </p:grpSpPr>
      <p:sp>
        <p:nvSpPr>
          <p:cNvPr id="10" name="Footer Placeholder 9">
            <a:extLst>
              <a:ext uri="{FF2B5EF4-FFF2-40B4-BE49-F238E27FC236}">
                <a16:creationId xmlns:a16="http://schemas.microsoft.com/office/drawing/2014/main" id="{8C195D78-D850-7FD5-943E-7121AAE400D4}"/>
              </a:ext>
            </a:extLst>
          </p:cNvPr>
          <p:cNvSpPr>
            <a:spLocks noGrp="1"/>
          </p:cNvSpPr>
          <p:nvPr>
            <p:ph type="ftr" sz="quarter" idx="11"/>
          </p:nvPr>
        </p:nvSpPr>
        <p:spPr>
          <a:xfrm>
            <a:off x="1" y="6459785"/>
            <a:ext cx="1788160" cy="365125"/>
          </a:xfrm>
        </p:spPr>
        <p:txBody>
          <a:bodyPr/>
          <a:lstStyle/>
          <a:p>
            <a:r>
              <a:rPr lang="en-IN" dirty="0"/>
              <a:t>Dept. of ECE, GMIT, DAVANGERE</a:t>
            </a:r>
          </a:p>
        </p:txBody>
      </p:sp>
      <p:sp>
        <p:nvSpPr>
          <p:cNvPr id="7" name="Slide Number Placeholder 6">
            <a:extLst>
              <a:ext uri="{FF2B5EF4-FFF2-40B4-BE49-F238E27FC236}">
                <a16:creationId xmlns:a16="http://schemas.microsoft.com/office/drawing/2014/main" id="{69539EE9-3C5F-6324-566E-81740C0C6FAC}"/>
              </a:ext>
            </a:extLst>
          </p:cNvPr>
          <p:cNvSpPr>
            <a:spLocks noGrp="1"/>
          </p:cNvSpPr>
          <p:nvPr>
            <p:ph type="sldNum" sz="quarter" idx="12"/>
          </p:nvPr>
        </p:nvSpPr>
        <p:spPr/>
        <p:txBody>
          <a:bodyPr/>
          <a:lstStyle/>
          <a:p>
            <a:fld id="{28254D9E-7D44-4180-A68A-D953F4FABDCA}" type="slidenum">
              <a:rPr lang="en-IN" smtClean="0"/>
              <a:t>10</a:t>
            </a:fld>
            <a:endParaRPr lang="en-IN"/>
          </a:p>
        </p:txBody>
      </p:sp>
      <p:sp>
        <p:nvSpPr>
          <p:cNvPr id="3" name="Rectangle 1">
            <a:extLst>
              <a:ext uri="{FF2B5EF4-FFF2-40B4-BE49-F238E27FC236}">
                <a16:creationId xmlns:a16="http://schemas.microsoft.com/office/drawing/2014/main" id="{39E25865-49BF-EBAD-AAD7-2241377A704C}"/>
              </a:ext>
            </a:extLst>
          </p:cNvPr>
          <p:cNvSpPr>
            <a:spLocks noChangeArrowheads="1"/>
          </p:cNvSpPr>
          <p:nvPr/>
        </p:nvSpPr>
        <p:spPr bwMode="auto">
          <a:xfrm>
            <a:off x="265472" y="455875"/>
            <a:ext cx="10947012" cy="4108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US" sz="1800" b="1" dirty="0">
                <a:latin typeface="Times New Roman" panose="02020603050405020304" pitchFamily="18" charset="0"/>
                <a:cs typeface="Times New Roman" panose="02020603050405020304" pitchFamily="18" charset="0"/>
              </a:rPr>
              <a:t>5. Testing:</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Each part of the system is tested individually and together. Real users (like doctors and staff) also try the system to make sure it works well in real situations.</a:t>
            </a:r>
          </a:p>
          <a:p>
            <a:pPr>
              <a:lnSpc>
                <a:spcPct val="150000"/>
              </a:lnSpc>
              <a:buNone/>
            </a:pPr>
            <a:r>
              <a:rPr lang="en-US" sz="1800" b="1" dirty="0">
                <a:latin typeface="Times New Roman" panose="02020603050405020304" pitchFamily="18" charset="0"/>
                <a:cs typeface="Times New Roman" panose="02020603050405020304" pitchFamily="18" charset="0"/>
              </a:rPr>
              <a:t>6. Deployment: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After testing, the system is installed on a live server, using cloud platforms like AWS or Azure to make it reliable and scalable. Automated tools help with future updates.</a:t>
            </a:r>
          </a:p>
          <a:p>
            <a:pPr>
              <a:lnSpc>
                <a:spcPct val="150000"/>
              </a:lnSpc>
            </a:pPr>
            <a:r>
              <a:rPr lang="en-US" sz="1800" b="1" dirty="0">
                <a:latin typeface="Times New Roman" panose="02020603050405020304" pitchFamily="18" charset="0"/>
                <a:cs typeface="Times New Roman" panose="02020603050405020304" pitchFamily="18" charset="0"/>
              </a:rPr>
              <a:t>7. Maintenance and Support: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We regularly check and improve the system. User feedback helps add new features, and we keep the system secure with updates and patches.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26013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A77DE-1C01-45AF-3D90-52CDD89CBF4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35E8D06-1ACF-C25D-6689-D017029F1A44}"/>
              </a:ext>
            </a:extLst>
          </p:cNvPr>
          <p:cNvSpPr txBox="1"/>
          <p:nvPr/>
        </p:nvSpPr>
        <p:spPr>
          <a:xfrm>
            <a:off x="131567" y="140557"/>
            <a:ext cx="11321142"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IMPLEMENTATION  </a:t>
            </a:r>
            <a:endParaRPr lang="en-IN" sz="4000" b="1" dirty="0">
              <a:solidFill>
                <a:schemeClr val="accent2"/>
              </a:solidFill>
              <a:latin typeface="Times New Roman" panose="02020603050405020304" pitchFamily="18"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9345C4B0-D59B-ED85-A194-780D9FA5551F}"/>
              </a:ext>
            </a:extLst>
          </p:cNvPr>
          <p:cNvSpPr>
            <a:spLocks noGrp="1"/>
          </p:cNvSpPr>
          <p:nvPr>
            <p:ph type="ftr" sz="quarter" idx="11"/>
          </p:nvPr>
        </p:nvSpPr>
        <p:spPr>
          <a:xfrm flipH="1">
            <a:off x="304800" y="6430862"/>
            <a:ext cx="1757680" cy="365125"/>
          </a:xfrm>
        </p:spPr>
        <p:txBody>
          <a:bodyPr/>
          <a:lstStyle/>
          <a:p>
            <a:r>
              <a:rPr lang="en-IN" dirty="0"/>
              <a:t>Dept. of ECE, GMIT, DAVANGERE</a:t>
            </a:r>
          </a:p>
        </p:txBody>
      </p:sp>
      <p:sp>
        <p:nvSpPr>
          <p:cNvPr id="9" name="Slide Number Placeholder 8">
            <a:extLst>
              <a:ext uri="{FF2B5EF4-FFF2-40B4-BE49-F238E27FC236}">
                <a16:creationId xmlns:a16="http://schemas.microsoft.com/office/drawing/2014/main" id="{ED44CAF4-29FA-D69A-3A19-9C7043C5A674}"/>
              </a:ext>
            </a:extLst>
          </p:cNvPr>
          <p:cNvSpPr>
            <a:spLocks noGrp="1"/>
          </p:cNvSpPr>
          <p:nvPr>
            <p:ph type="sldNum" sz="quarter" idx="12"/>
          </p:nvPr>
        </p:nvSpPr>
        <p:spPr/>
        <p:txBody>
          <a:bodyPr/>
          <a:lstStyle/>
          <a:p>
            <a:fld id="{28254D9E-7D44-4180-A68A-D953F4FABDCA}" type="slidenum">
              <a:rPr lang="en-IN" smtClean="0"/>
              <a:t>11</a:t>
            </a:fld>
            <a:endParaRPr lang="en-IN"/>
          </a:p>
        </p:txBody>
      </p:sp>
      <p:sp>
        <p:nvSpPr>
          <p:cNvPr id="15" name="TextBox 14">
            <a:extLst>
              <a:ext uri="{FF2B5EF4-FFF2-40B4-BE49-F238E27FC236}">
                <a16:creationId xmlns:a16="http://schemas.microsoft.com/office/drawing/2014/main" id="{6BCEFC1A-8D7F-C19D-B748-1B3BC7B16440}"/>
              </a:ext>
            </a:extLst>
          </p:cNvPr>
          <p:cNvSpPr txBox="1"/>
          <p:nvPr/>
        </p:nvSpPr>
        <p:spPr>
          <a:xfrm>
            <a:off x="304800" y="737419"/>
            <a:ext cx="11147909" cy="5663955"/>
          </a:xfrm>
          <a:prstGeom prst="rect">
            <a:avLst/>
          </a:prstGeom>
          <a:noFill/>
        </p:spPr>
        <p:txBody>
          <a:bodyPr wrap="square" rtlCol="0">
            <a:spAutoFit/>
          </a:bodyPr>
          <a:lstStyle/>
          <a:p>
            <a:pPr algn="just">
              <a:lnSpc>
                <a:spcPct val="150000"/>
              </a:lnSpc>
              <a:buNone/>
            </a:pPr>
            <a:r>
              <a:rPr lang="en-US" sz="2000" b="1" dirty="0">
                <a:latin typeface="Times New Roman" panose="02020603050405020304" pitchFamily="18" charset="0"/>
                <a:cs typeface="Times New Roman" panose="02020603050405020304" pitchFamily="18" charset="0"/>
              </a:rPr>
              <a:t>Frontend Development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Designed user interfaces using HTML, CSS, JavaScript for different users like Admin, Doctors, Nurses, and Patients.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Created responsive dashboards to manage appointments, patient records, billing, and reports.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Implemented form validations, dynamic data rendering (e.g., patient history, appointment schedules), and interactive UI components.</a:t>
            </a:r>
          </a:p>
          <a:p>
            <a:pPr algn="just">
              <a:lnSpc>
                <a:spcPct val="150000"/>
              </a:lnSpc>
              <a:buNone/>
            </a:pPr>
            <a:r>
              <a:rPr lang="en-US" sz="2000" b="1" dirty="0">
                <a:latin typeface="Times New Roman" panose="02020603050405020304" pitchFamily="18" charset="0"/>
                <a:cs typeface="Times New Roman" panose="02020603050405020304" pitchFamily="18" charset="0"/>
              </a:rPr>
              <a:t>Backend Development (Spring Boot)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Developed RESTful APIs for login/authentication, patient registration, doctor/staff management, appointment booking, and billing.</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Implemented OTP-based login using email verification for secure user access.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Created modular services for managing prescriptions, lab reports, messaging, notifications, and user sessions, following clean code principles.</a:t>
            </a:r>
          </a:p>
          <a:p>
            <a:endParaRPr lang="en-IN" dirty="0"/>
          </a:p>
        </p:txBody>
      </p:sp>
    </p:spTree>
    <p:extLst>
      <p:ext uri="{BB962C8B-B14F-4D97-AF65-F5344CB8AC3E}">
        <p14:creationId xmlns:p14="http://schemas.microsoft.com/office/powerpoint/2010/main" val="4282449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2127FB6B-EB6E-2437-4967-5033DCA4B9BE}"/>
              </a:ext>
            </a:extLst>
          </p:cNvPr>
          <p:cNvSpPr>
            <a:spLocks noGrp="1"/>
          </p:cNvSpPr>
          <p:nvPr>
            <p:ph type="ftr" sz="quarter" idx="11"/>
          </p:nvPr>
        </p:nvSpPr>
        <p:spPr>
          <a:xfrm>
            <a:off x="1" y="6459785"/>
            <a:ext cx="2153920" cy="365125"/>
          </a:xfrm>
        </p:spPr>
        <p:txBody>
          <a:bodyPr/>
          <a:lstStyle/>
          <a:p>
            <a:r>
              <a:rPr lang="en-IN" dirty="0"/>
              <a:t>Dept. of ECE, GMIT, DAVANGERE</a:t>
            </a:r>
          </a:p>
        </p:txBody>
      </p:sp>
      <p:sp>
        <p:nvSpPr>
          <p:cNvPr id="7" name="Slide Number Placeholder 6">
            <a:extLst>
              <a:ext uri="{FF2B5EF4-FFF2-40B4-BE49-F238E27FC236}">
                <a16:creationId xmlns:a16="http://schemas.microsoft.com/office/drawing/2014/main" id="{D9F78D66-7FC0-0AA6-2CDE-3BE03051521C}"/>
              </a:ext>
            </a:extLst>
          </p:cNvPr>
          <p:cNvSpPr>
            <a:spLocks noGrp="1"/>
          </p:cNvSpPr>
          <p:nvPr>
            <p:ph type="sldNum" sz="quarter" idx="12"/>
          </p:nvPr>
        </p:nvSpPr>
        <p:spPr/>
        <p:txBody>
          <a:bodyPr/>
          <a:lstStyle/>
          <a:p>
            <a:fld id="{28254D9E-7D44-4180-A68A-D953F4FABDCA}" type="slidenum">
              <a:rPr lang="en-IN" smtClean="0"/>
              <a:t>12</a:t>
            </a:fld>
            <a:endParaRPr lang="en-IN"/>
          </a:p>
        </p:txBody>
      </p:sp>
      <p:sp>
        <p:nvSpPr>
          <p:cNvPr id="5" name="TextBox 4">
            <a:extLst>
              <a:ext uri="{FF2B5EF4-FFF2-40B4-BE49-F238E27FC236}">
                <a16:creationId xmlns:a16="http://schemas.microsoft.com/office/drawing/2014/main" id="{E3455425-248E-C3C8-F920-F3F7AA253835}"/>
              </a:ext>
            </a:extLst>
          </p:cNvPr>
          <p:cNvSpPr txBox="1"/>
          <p:nvPr/>
        </p:nvSpPr>
        <p:spPr>
          <a:xfrm>
            <a:off x="294968" y="344128"/>
            <a:ext cx="11444748" cy="884903"/>
          </a:xfrm>
          <a:prstGeom prst="rect">
            <a:avLst/>
          </a:prstGeom>
          <a:noFill/>
        </p:spPr>
        <p:txBody>
          <a:bodyPr wrap="square" rtlCol="0">
            <a:spAutoFit/>
          </a:bodyPr>
          <a:lstStyle/>
          <a:p>
            <a:endParaRPr lang="en-IN" dirty="0"/>
          </a:p>
        </p:txBody>
      </p:sp>
      <p:sp>
        <p:nvSpPr>
          <p:cNvPr id="8" name="Rectangle 4">
            <a:extLst>
              <a:ext uri="{FF2B5EF4-FFF2-40B4-BE49-F238E27FC236}">
                <a16:creationId xmlns:a16="http://schemas.microsoft.com/office/drawing/2014/main" id="{0F0249F9-8E85-8BFC-1CEB-DDCFF4071C43}"/>
              </a:ext>
            </a:extLst>
          </p:cNvPr>
          <p:cNvSpPr>
            <a:spLocks noChangeArrowheads="1"/>
          </p:cNvSpPr>
          <p:nvPr/>
        </p:nvSpPr>
        <p:spPr bwMode="auto">
          <a:xfrm>
            <a:off x="176981" y="495606"/>
            <a:ext cx="11720051" cy="5536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Integration (PostgreSQL)</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PostgreSQL for its reliability, scalability, and support for complex queries.</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Ensured data integrity through primary/foreign key constraints, normalization, and indexing on frequently queried fields (e.g., patient ID, appointment date).</a:t>
            </a:r>
          </a:p>
          <a:p>
            <a:pPr>
              <a:lnSpc>
                <a:spcPct val="150000"/>
              </a:lnSpc>
              <a:buNone/>
            </a:pPr>
            <a:r>
              <a:rPr lang="en-US" sz="2000" b="1" dirty="0"/>
              <a:t>Real-Time Features</a:t>
            </a:r>
          </a:p>
          <a:p>
            <a:pPr marL="285750" indent="-285750">
              <a:lnSpc>
                <a:spcPct val="150000"/>
              </a:lnSpc>
              <a:buFont typeface="Arial" panose="020B0604020202020204" pitchFamily="34" charset="0"/>
              <a:buChar char="•"/>
            </a:pPr>
            <a:r>
              <a:rPr lang="en-US" dirty="0"/>
              <a:t>Developed a real-time chat system using WebSockets for communication between patients and hospital staff (e.g., for appointment or test inquiries).</a:t>
            </a:r>
          </a:p>
          <a:p>
            <a:pPr marL="285750" indent="-285750">
              <a:lnSpc>
                <a:spcPct val="150000"/>
              </a:lnSpc>
              <a:buFont typeface="Arial" panose="020B0604020202020204" pitchFamily="34" charset="0"/>
              <a:buChar char="•"/>
            </a:pPr>
            <a:r>
              <a:rPr lang="en-US" dirty="0"/>
              <a:t>Implemented a notification system for alerts like new appointments, test result availability, and payment reminders using event-driven logic.</a:t>
            </a:r>
          </a:p>
          <a:p>
            <a:pPr>
              <a:lnSpc>
                <a:spcPct val="150000"/>
              </a:lnSpc>
              <a:buNone/>
            </a:pPr>
            <a:r>
              <a:rPr lang="en-US" sz="2000" b="1" dirty="0">
                <a:latin typeface="Times New Roman" panose="02020603050405020304" pitchFamily="18" charset="0"/>
                <a:cs typeface="Times New Roman" panose="02020603050405020304" pitchFamily="18" charset="0"/>
              </a:rPr>
              <a:t>Testing &amp; Deployment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Conducted unit testing (using JUnit) and integration testing for key modules such as login, appointment management, and billing.</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Deployed the system locally on Apache Tomcat, with full live demo support for Admin, Doctors, and Front Desk Staff.</a:t>
            </a:r>
          </a:p>
        </p:txBody>
      </p:sp>
    </p:spTree>
    <p:extLst>
      <p:ext uri="{BB962C8B-B14F-4D97-AF65-F5344CB8AC3E}">
        <p14:creationId xmlns:p14="http://schemas.microsoft.com/office/powerpoint/2010/main" val="3110424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78FF1-1B36-C4C9-184A-F87CC25861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545FC0-C6C7-8C99-8D16-294A3C457AB4}"/>
              </a:ext>
            </a:extLst>
          </p:cNvPr>
          <p:cNvSpPr txBox="1"/>
          <p:nvPr/>
        </p:nvSpPr>
        <p:spPr>
          <a:xfrm>
            <a:off x="243840" y="386080"/>
            <a:ext cx="11540724" cy="707886"/>
          </a:xfrm>
          <a:prstGeom prst="rect">
            <a:avLst/>
          </a:prstGeom>
          <a:noFill/>
        </p:spPr>
        <p:txBody>
          <a:bodyPr wrap="square" rtlCol="0">
            <a:spAutoFit/>
          </a:bodyPr>
          <a:lstStyle/>
          <a:p>
            <a:r>
              <a:rPr lang="en-US" sz="4000" b="1" dirty="0">
                <a:solidFill>
                  <a:schemeClr val="accent2"/>
                </a:solidFill>
                <a:latin typeface="Times New Roman" panose="02020603050405020304" pitchFamily="18" charset="0"/>
                <a:cs typeface="Times New Roman" panose="02020603050405020304" pitchFamily="18" charset="0"/>
              </a:rPr>
              <a:t>RESULTS AND DISCUSSIONS</a:t>
            </a:r>
          </a:p>
        </p:txBody>
      </p:sp>
      <p:sp>
        <p:nvSpPr>
          <p:cNvPr id="9" name="Footer Placeholder 8">
            <a:extLst>
              <a:ext uri="{FF2B5EF4-FFF2-40B4-BE49-F238E27FC236}">
                <a16:creationId xmlns:a16="http://schemas.microsoft.com/office/drawing/2014/main" id="{77B4AB74-3685-2BAF-A5D9-715E1DA754F2}"/>
              </a:ext>
            </a:extLst>
          </p:cNvPr>
          <p:cNvSpPr>
            <a:spLocks noGrp="1"/>
          </p:cNvSpPr>
          <p:nvPr>
            <p:ph type="ftr" sz="quarter" idx="11"/>
          </p:nvPr>
        </p:nvSpPr>
        <p:spPr>
          <a:xfrm>
            <a:off x="1" y="6459785"/>
            <a:ext cx="2072640" cy="365125"/>
          </a:xfrm>
        </p:spPr>
        <p:txBody>
          <a:bodyPr/>
          <a:lstStyle/>
          <a:p>
            <a:r>
              <a:rPr lang="en-IN" dirty="0"/>
              <a:t>Dept. of ECE, GMIT, DAVANGERE</a:t>
            </a:r>
          </a:p>
        </p:txBody>
      </p:sp>
      <p:sp>
        <p:nvSpPr>
          <p:cNvPr id="7" name="Slide Number Placeholder 6">
            <a:extLst>
              <a:ext uri="{FF2B5EF4-FFF2-40B4-BE49-F238E27FC236}">
                <a16:creationId xmlns:a16="http://schemas.microsoft.com/office/drawing/2014/main" id="{51D2D3A3-4519-74DB-ED00-24C820D7066E}"/>
              </a:ext>
            </a:extLst>
          </p:cNvPr>
          <p:cNvSpPr>
            <a:spLocks noGrp="1"/>
          </p:cNvSpPr>
          <p:nvPr>
            <p:ph type="sldNum" sz="quarter" idx="12"/>
          </p:nvPr>
        </p:nvSpPr>
        <p:spPr/>
        <p:txBody>
          <a:bodyPr/>
          <a:lstStyle/>
          <a:p>
            <a:fld id="{28254D9E-7D44-4180-A68A-D953F4FABDCA}" type="slidenum">
              <a:rPr lang="en-IN" smtClean="0"/>
              <a:t>13</a:t>
            </a:fld>
            <a:endParaRPr lang="en-IN"/>
          </a:p>
        </p:txBody>
      </p:sp>
      <p:sp>
        <p:nvSpPr>
          <p:cNvPr id="5" name="AutoShape 2">
            <a:extLst>
              <a:ext uri="{FF2B5EF4-FFF2-40B4-BE49-F238E27FC236}">
                <a16:creationId xmlns:a16="http://schemas.microsoft.com/office/drawing/2014/main" id="{ABB4DB76-3D49-40CA-5003-08DA63C1E319}"/>
              </a:ext>
            </a:extLst>
          </p:cNvPr>
          <p:cNvSpPr>
            <a:spLocks noChangeAspect="1" noChangeArrowheads="1"/>
          </p:cNvSpPr>
          <p:nvPr/>
        </p:nvSpPr>
        <p:spPr bwMode="auto">
          <a:xfrm rot="10800000" flipV="1">
            <a:off x="580105" y="5708793"/>
            <a:ext cx="5034114" cy="36003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gn="ctr"/>
            <a:r>
              <a:rPr lang="en-IN" sz="1200" b="1" dirty="0">
                <a:latin typeface="Times New Roman" panose="02020603050405020304" pitchFamily="18" charset="0"/>
                <a:cs typeface="Times New Roman" panose="02020603050405020304" pitchFamily="18" charset="0"/>
              </a:rPr>
              <a:t>Snapshot 1: Home Page</a:t>
            </a:r>
          </a:p>
        </p:txBody>
      </p:sp>
      <p:pic>
        <p:nvPicPr>
          <p:cNvPr id="6" name="Picture 5">
            <a:extLst>
              <a:ext uri="{FF2B5EF4-FFF2-40B4-BE49-F238E27FC236}">
                <a16:creationId xmlns:a16="http://schemas.microsoft.com/office/drawing/2014/main" id="{84B9D3C6-6FFD-F179-1052-BB1E0F0305AB}"/>
              </a:ext>
            </a:extLst>
          </p:cNvPr>
          <p:cNvPicPr>
            <a:picLocks noChangeAspect="1"/>
          </p:cNvPicPr>
          <p:nvPr/>
        </p:nvPicPr>
        <p:blipFill>
          <a:blip r:embed="rId3"/>
          <a:srcRect t="4456" b="5931"/>
          <a:stretch/>
        </p:blipFill>
        <p:spPr>
          <a:xfrm>
            <a:off x="678428" y="1219200"/>
            <a:ext cx="5034114" cy="4168877"/>
          </a:xfrm>
          <a:prstGeom prst="rect">
            <a:avLst/>
          </a:prstGeom>
        </p:spPr>
      </p:pic>
      <p:sp>
        <p:nvSpPr>
          <p:cNvPr id="8" name="AutoShape 4">
            <a:extLst>
              <a:ext uri="{FF2B5EF4-FFF2-40B4-BE49-F238E27FC236}">
                <a16:creationId xmlns:a16="http://schemas.microsoft.com/office/drawing/2014/main" id="{9B72D2BA-34F6-CAF7-8785-3F01A27BED4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2" name="Picture 11">
            <a:extLst>
              <a:ext uri="{FF2B5EF4-FFF2-40B4-BE49-F238E27FC236}">
                <a16:creationId xmlns:a16="http://schemas.microsoft.com/office/drawing/2014/main" id="{8D4BC266-C029-1830-A762-4C93347FEC3F}"/>
              </a:ext>
            </a:extLst>
          </p:cNvPr>
          <p:cNvPicPr>
            <a:picLocks noChangeAspect="1"/>
          </p:cNvPicPr>
          <p:nvPr/>
        </p:nvPicPr>
        <p:blipFill>
          <a:blip r:embed="rId4"/>
          <a:srcRect t="5118" b="5896"/>
          <a:stretch/>
        </p:blipFill>
        <p:spPr>
          <a:xfrm>
            <a:off x="6243480" y="1219200"/>
            <a:ext cx="5288891" cy="4168877"/>
          </a:xfrm>
          <a:prstGeom prst="rect">
            <a:avLst/>
          </a:prstGeom>
        </p:spPr>
      </p:pic>
      <p:sp>
        <p:nvSpPr>
          <p:cNvPr id="13" name="TextBox 12">
            <a:extLst>
              <a:ext uri="{FF2B5EF4-FFF2-40B4-BE49-F238E27FC236}">
                <a16:creationId xmlns:a16="http://schemas.microsoft.com/office/drawing/2014/main" id="{73127765-3515-0B18-C41D-7F3030E78805}"/>
              </a:ext>
            </a:extLst>
          </p:cNvPr>
          <p:cNvSpPr txBox="1"/>
          <p:nvPr/>
        </p:nvSpPr>
        <p:spPr>
          <a:xfrm>
            <a:off x="6390968" y="5791200"/>
            <a:ext cx="5141403"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2: Admin Login Page</a:t>
            </a:r>
          </a:p>
        </p:txBody>
      </p:sp>
    </p:spTree>
    <p:extLst>
      <p:ext uri="{BB962C8B-B14F-4D97-AF65-F5344CB8AC3E}">
        <p14:creationId xmlns:p14="http://schemas.microsoft.com/office/powerpoint/2010/main" val="1951629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F0229-4304-B380-3AC0-D13DF9A4F962}"/>
            </a:ext>
          </a:extLst>
        </p:cNvPr>
        <p:cNvGrpSpPr/>
        <p:nvPr/>
      </p:nvGrpSpPr>
      <p:grpSpPr>
        <a:xfrm>
          <a:off x="0" y="0"/>
          <a:ext cx="0" cy="0"/>
          <a:chOff x="0" y="0"/>
          <a:chExt cx="0" cy="0"/>
        </a:xfrm>
      </p:grpSpPr>
      <p:sp>
        <p:nvSpPr>
          <p:cNvPr id="9" name="Footer Placeholder 8">
            <a:extLst>
              <a:ext uri="{FF2B5EF4-FFF2-40B4-BE49-F238E27FC236}">
                <a16:creationId xmlns:a16="http://schemas.microsoft.com/office/drawing/2014/main" id="{97ABBB34-97D8-EEA6-8FFD-D09B4896953D}"/>
              </a:ext>
            </a:extLst>
          </p:cNvPr>
          <p:cNvSpPr>
            <a:spLocks noGrp="1"/>
          </p:cNvSpPr>
          <p:nvPr>
            <p:ph type="ftr" sz="quarter" idx="11"/>
          </p:nvPr>
        </p:nvSpPr>
        <p:spPr>
          <a:xfrm>
            <a:off x="1" y="6459785"/>
            <a:ext cx="2072640" cy="365125"/>
          </a:xfrm>
        </p:spPr>
        <p:txBody>
          <a:bodyPr/>
          <a:lstStyle/>
          <a:p>
            <a:r>
              <a:rPr lang="en-IN" dirty="0"/>
              <a:t>Dept. of ECE, GMIT, DAVANGERE</a:t>
            </a:r>
          </a:p>
        </p:txBody>
      </p:sp>
      <p:sp>
        <p:nvSpPr>
          <p:cNvPr id="7" name="Slide Number Placeholder 6">
            <a:extLst>
              <a:ext uri="{FF2B5EF4-FFF2-40B4-BE49-F238E27FC236}">
                <a16:creationId xmlns:a16="http://schemas.microsoft.com/office/drawing/2014/main" id="{F6DFDAAD-12EA-10B4-1E52-6D90437ECEB7}"/>
              </a:ext>
            </a:extLst>
          </p:cNvPr>
          <p:cNvSpPr>
            <a:spLocks noGrp="1"/>
          </p:cNvSpPr>
          <p:nvPr>
            <p:ph type="sldNum" sz="quarter" idx="12"/>
          </p:nvPr>
        </p:nvSpPr>
        <p:spPr/>
        <p:txBody>
          <a:bodyPr/>
          <a:lstStyle/>
          <a:p>
            <a:fld id="{28254D9E-7D44-4180-A68A-D953F4FABDCA}" type="slidenum">
              <a:rPr lang="en-IN" smtClean="0"/>
              <a:t>14</a:t>
            </a:fld>
            <a:endParaRPr lang="en-IN"/>
          </a:p>
        </p:txBody>
      </p:sp>
      <p:pic>
        <p:nvPicPr>
          <p:cNvPr id="2" name="Picture 1">
            <a:extLst>
              <a:ext uri="{FF2B5EF4-FFF2-40B4-BE49-F238E27FC236}">
                <a16:creationId xmlns:a16="http://schemas.microsoft.com/office/drawing/2014/main" id="{E0AB9088-BBF2-7A3D-A229-C70A059B6FAF}"/>
              </a:ext>
            </a:extLst>
          </p:cNvPr>
          <p:cNvPicPr>
            <a:picLocks noChangeAspect="1"/>
          </p:cNvPicPr>
          <p:nvPr/>
        </p:nvPicPr>
        <p:blipFill>
          <a:blip r:embed="rId3"/>
          <a:srcRect t="4793" b="5416"/>
          <a:stretch/>
        </p:blipFill>
        <p:spPr>
          <a:xfrm>
            <a:off x="727588" y="491613"/>
            <a:ext cx="5014452" cy="4758813"/>
          </a:xfrm>
          <a:prstGeom prst="rect">
            <a:avLst/>
          </a:prstGeom>
        </p:spPr>
      </p:pic>
      <p:pic>
        <p:nvPicPr>
          <p:cNvPr id="3" name="Picture 2">
            <a:extLst>
              <a:ext uri="{FF2B5EF4-FFF2-40B4-BE49-F238E27FC236}">
                <a16:creationId xmlns:a16="http://schemas.microsoft.com/office/drawing/2014/main" id="{4F735905-9AF8-3446-E915-756139E04F99}"/>
              </a:ext>
            </a:extLst>
          </p:cNvPr>
          <p:cNvPicPr>
            <a:picLocks noChangeAspect="1"/>
          </p:cNvPicPr>
          <p:nvPr/>
        </p:nvPicPr>
        <p:blipFill>
          <a:blip r:embed="rId4"/>
          <a:srcRect t="4818" b="5257"/>
          <a:stretch/>
        </p:blipFill>
        <p:spPr>
          <a:xfrm>
            <a:off x="6302478" y="560438"/>
            <a:ext cx="5161936" cy="4689987"/>
          </a:xfrm>
          <a:prstGeom prst="rect">
            <a:avLst/>
          </a:prstGeom>
        </p:spPr>
      </p:pic>
      <p:sp>
        <p:nvSpPr>
          <p:cNvPr id="4" name="TextBox 3">
            <a:extLst>
              <a:ext uri="{FF2B5EF4-FFF2-40B4-BE49-F238E27FC236}">
                <a16:creationId xmlns:a16="http://schemas.microsoft.com/office/drawing/2014/main" id="{4B9547D0-3981-6DF5-C8AD-2166E7DBA4B3}"/>
              </a:ext>
            </a:extLst>
          </p:cNvPr>
          <p:cNvSpPr txBox="1"/>
          <p:nvPr/>
        </p:nvSpPr>
        <p:spPr>
          <a:xfrm>
            <a:off x="727588" y="5515897"/>
            <a:ext cx="5014452"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3: Admin Dashboard</a:t>
            </a:r>
          </a:p>
        </p:txBody>
      </p:sp>
      <p:sp>
        <p:nvSpPr>
          <p:cNvPr id="6" name="TextBox 5">
            <a:extLst>
              <a:ext uri="{FF2B5EF4-FFF2-40B4-BE49-F238E27FC236}">
                <a16:creationId xmlns:a16="http://schemas.microsoft.com/office/drawing/2014/main" id="{CB97FE70-E866-0A35-F226-F996E91F7261}"/>
              </a:ext>
            </a:extLst>
          </p:cNvPr>
          <p:cNvSpPr txBox="1"/>
          <p:nvPr/>
        </p:nvSpPr>
        <p:spPr>
          <a:xfrm>
            <a:off x="6449961" y="5515898"/>
            <a:ext cx="5014451"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4: List of Doctors</a:t>
            </a:r>
          </a:p>
        </p:txBody>
      </p:sp>
    </p:spTree>
    <p:extLst>
      <p:ext uri="{BB962C8B-B14F-4D97-AF65-F5344CB8AC3E}">
        <p14:creationId xmlns:p14="http://schemas.microsoft.com/office/powerpoint/2010/main" val="2184849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50AC3-6637-0D3E-842E-3CC64A7A3A6F}"/>
            </a:ext>
          </a:extLst>
        </p:cNvPr>
        <p:cNvGrpSpPr/>
        <p:nvPr/>
      </p:nvGrpSpPr>
      <p:grpSpPr>
        <a:xfrm>
          <a:off x="0" y="0"/>
          <a:ext cx="0" cy="0"/>
          <a:chOff x="0" y="0"/>
          <a:chExt cx="0" cy="0"/>
        </a:xfrm>
      </p:grpSpPr>
      <p:sp>
        <p:nvSpPr>
          <p:cNvPr id="9" name="Footer Placeholder 8">
            <a:extLst>
              <a:ext uri="{FF2B5EF4-FFF2-40B4-BE49-F238E27FC236}">
                <a16:creationId xmlns:a16="http://schemas.microsoft.com/office/drawing/2014/main" id="{C23952C4-F586-809A-8213-E9F8B3A15A78}"/>
              </a:ext>
            </a:extLst>
          </p:cNvPr>
          <p:cNvSpPr>
            <a:spLocks noGrp="1"/>
          </p:cNvSpPr>
          <p:nvPr>
            <p:ph type="ftr" sz="quarter" idx="11"/>
          </p:nvPr>
        </p:nvSpPr>
        <p:spPr>
          <a:xfrm>
            <a:off x="1" y="6459785"/>
            <a:ext cx="2072640" cy="365125"/>
          </a:xfrm>
        </p:spPr>
        <p:txBody>
          <a:bodyPr/>
          <a:lstStyle/>
          <a:p>
            <a:r>
              <a:rPr lang="en-IN" dirty="0"/>
              <a:t>Dept. of ECE, GMIT, DAVANGERE</a:t>
            </a:r>
          </a:p>
        </p:txBody>
      </p:sp>
      <p:sp>
        <p:nvSpPr>
          <p:cNvPr id="7" name="Slide Number Placeholder 6">
            <a:extLst>
              <a:ext uri="{FF2B5EF4-FFF2-40B4-BE49-F238E27FC236}">
                <a16:creationId xmlns:a16="http://schemas.microsoft.com/office/drawing/2014/main" id="{0C233D54-79E1-F39B-A8B3-CC70BE0E976A}"/>
              </a:ext>
            </a:extLst>
          </p:cNvPr>
          <p:cNvSpPr>
            <a:spLocks noGrp="1"/>
          </p:cNvSpPr>
          <p:nvPr>
            <p:ph type="sldNum" sz="quarter" idx="12"/>
          </p:nvPr>
        </p:nvSpPr>
        <p:spPr/>
        <p:txBody>
          <a:bodyPr/>
          <a:lstStyle/>
          <a:p>
            <a:fld id="{28254D9E-7D44-4180-A68A-D953F4FABDCA}" type="slidenum">
              <a:rPr lang="en-IN" smtClean="0"/>
              <a:t>15</a:t>
            </a:fld>
            <a:endParaRPr lang="en-IN"/>
          </a:p>
        </p:txBody>
      </p:sp>
      <p:pic>
        <p:nvPicPr>
          <p:cNvPr id="3" name="Picture 2">
            <a:extLst>
              <a:ext uri="{FF2B5EF4-FFF2-40B4-BE49-F238E27FC236}">
                <a16:creationId xmlns:a16="http://schemas.microsoft.com/office/drawing/2014/main" id="{C9E35232-D6B7-B331-2635-FC742AB0E401}"/>
              </a:ext>
            </a:extLst>
          </p:cNvPr>
          <p:cNvPicPr>
            <a:picLocks noChangeAspect="1"/>
          </p:cNvPicPr>
          <p:nvPr/>
        </p:nvPicPr>
        <p:blipFill>
          <a:blip r:embed="rId3"/>
          <a:srcRect t="4502" b="5172"/>
          <a:stretch/>
        </p:blipFill>
        <p:spPr>
          <a:xfrm>
            <a:off x="373625" y="432619"/>
            <a:ext cx="5201265" cy="4630994"/>
          </a:xfrm>
          <a:prstGeom prst="rect">
            <a:avLst/>
          </a:prstGeom>
        </p:spPr>
      </p:pic>
      <p:pic>
        <p:nvPicPr>
          <p:cNvPr id="5" name="Picture 4">
            <a:extLst>
              <a:ext uri="{FF2B5EF4-FFF2-40B4-BE49-F238E27FC236}">
                <a16:creationId xmlns:a16="http://schemas.microsoft.com/office/drawing/2014/main" id="{19061301-E627-7EB0-FECD-D6C45D01FA09}"/>
              </a:ext>
            </a:extLst>
          </p:cNvPr>
          <p:cNvPicPr>
            <a:picLocks noChangeAspect="1"/>
          </p:cNvPicPr>
          <p:nvPr/>
        </p:nvPicPr>
        <p:blipFill>
          <a:blip r:embed="rId4"/>
          <a:srcRect t="4724" b="5750"/>
          <a:stretch/>
        </p:blipFill>
        <p:spPr>
          <a:xfrm>
            <a:off x="6204158" y="432619"/>
            <a:ext cx="5378242" cy="4630993"/>
          </a:xfrm>
          <a:prstGeom prst="rect">
            <a:avLst/>
          </a:prstGeom>
        </p:spPr>
      </p:pic>
      <p:sp>
        <p:nvSpPr>
          <p:cNvPr id="6" name="TextBox 5">
            <a:extLst>
              <a:ext uri="{FF2B5EF4-FFF2-40B4-BE49-F238E27FC236}">
                <a16:creationId xmlns:a16="http://schemas.microsoft.com/office/drawing/2014/main" id="{C7A02D1F-DA86-69E3-813E-90910F493A99}"/>
              </a:ext>
            </a:extLst>
          </p:cNvPr>
          <p:cNvSpPr txBox="1"/>
          <p:nvPr/>
        </p:nvSpPr>
        <p:spPr>
          <a:xfrm>
            <a:off x="373624" y="5397910"/>
            <a:ext cx="5201265"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5: Doctor Login Page</a:t>
            </a:r>
          </a:p>
        </p:txBody>
      </p:sp>
      <p:sp>
        <p:nvSpPr>
          <p:cNvPr id="8" name="TextBox 7">
            <a:extLst>
              <a:ext uri="{FF2B5EF4-FFF2-40B4-BE49-F238E27FC236}">
                <a16:creationId xmlns:a16="http://schemas.microsoft.com/office/drawing/2014/main" id="{27D51DF7-77EA-7BAB-94C6-B5CCBD88B11C}"/>
              </a:ext>
            </a:extLst>
          </p:cNvPr>
          <p:cNvSpPr txBox="1"/>
          <p:nvPr/>
        </p:nvSpPr>
        <p:spPr>
          <a:xfrm>
            <a:off x="6617112" y="5397910"/>
            <a:ext cx="4965287"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6: Patients Details list</a:t>
            </a:r>
          </a:p>
        </p:txBody>
      </p:sp>
    </p:spTree>
    <p:extLst>
      <p:ext uri="{BB962C8B-B14F-4D97-AF65-F5344CB8AC3E}">
        <p14:creationId xmlns:p14="http://schemas.microsoft.com/office/powerpoint/2010/main" val="1395551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C34B2-4E64-FB6A-95E2-0B21224F9F98}"/>
            </a:ext>
          </a:extLst>
        </p:cNvPr>
        <p:cNvGrpSpPr/>
        <p:nvPr/>
      </p:nvGrpSpPr>
      <p:grpSpPr>
        <a:xfrm>
          <a:off x="0" y="0"/>
          <a:ext cx="0" cy="0"/>
          <a:chOff x="0" y="0"/>
          <a:chExt cx="0" cy="0"/>
        </a:xfrm>
      </p:grpSpPr>
      <p:sp>
        <p:nvSpPr>
          <p:cNvPr id="9" name="Footer Placeholder 8">
            <a:extLst>
              <a:ext uri="{FF2B5EF4-FFF2-40B4-BE49-F238E27FC236}">
                <a16:creationId xmlns:a16="http://schemas.microsoft.com/office/drawing/2014/main" id="{E93128ED-FC01-83AF-1D8C-482A93920768}"/>
              </a:ext>
            </a:extLst>
          </p:cNvPr>
          <p:cNvSpPr>
            <a:spLocks noGrp="1"/>
          </p:cNvSpPr>
          <p:nvPr>
            <p:ph type="ftr" sz="quarter" idx="11"/>
          </p:nvPr>
        </p:nvSpPr>
        <p:spPr>
          <a:xfrm>
            <a:off x="1" y="6459785"/>
            <a:ext cx="2072640" cy="365125"/>
          </a:xfrm>
        </p:spPr>
        <p:txBody>
          <a:bodyPr/>
          <a:lstStyle/>
          <a:p>
            <a:r>
              <a:rPr lang="en-IN" dirty="0"/>
              <a:t>Dept. of ECE, GMIT, DAVANGERE</a:t>
            </a:r>
          </a:p>
        </p:txBody>
      </p:sp>
      <p:sp>
        <p:nvSpPr>
          <p:cNvPr id="7" name="Slide Number Placeholder 6">
            <a:extLst>
              <a:ext uri="{FF2B5EF4-FFF2-40B4-BE49-F238E27FC236}">
                <a16:creationId xmlns:a16="http://schemas.microsoft.com/office/drawing/2014/main" id="{56EBE17A-0EEB-F602-FCFE-53FC53D3B56A}"/>
              </a:ext>
            </a:extLst>
          </p:cNvPr>
          <p:cNvSpPr>
            <a:spLocks noGrp="1"/>
          </p:cNvSpPr>
          <p:nvPr>
            <p:ph type="sldNum" sz="quarter" idx="12"/>
          </p:nvPr>
        </p:nvSpPr>
        <p:spPr/>
        <p:txBody>
          <a:bodyPr/>
          <a:lstStyle/>
          <a:p>
            <a:fld id="{28254D9E-7D44-4180-A68A-D953F4FABDCA}" type="slidenum">
              <a:rPr lang="en-IN" smtClean="0"/>
              <a:t>16</a:t>
            </a:fld>
            <a:endParaRPr lang="en-IN"/>
          </a:p>
        </p:txBody>
      </p:sp>
      <p:pic>
        <p:nvPicPr>
          <p:cNvPr id="2" name="Picture 1">
            <a:extLst>
              <a:ext uri="{FF2B5EF4-FFF2-40B4-BE49-F238E27FC236}">
                <a16:creationId xmlns:a16="http://schemas.microsoft.com/office/drawing/2014/main" id="{854DF89C-8DAE-4339-9617-3ACBC89C2EE1}"/>
              </a:ext>
            </a:extLst>
          </p:cNvPr>
          <p:cNvPicPr>
            <a:picLocks noChangeAspect="1"/>
          </p:cNvPicPr>
          <p:nvPr/>
        </p:nvPicPr>
        <p:blipFill>
          <a:blip r:embed="rId3"/>
          <a:srcRect t="4840" b="5610"/>
          <a:stretch/>
        </p:blipFill>
        <p:spPr>
          <a:xfrm>
            <a:off x="619433" y="560439"/>
            <a:ext cx="5240594" cy="4434348"/>
          </a:xfrm>
          <a:prstGeom prst="rect">
            <a:avLst/>
          </a:prstGeom>
        </p:spPr>
      </p:pic>
      <p:pic>
        <p:nvPicPr>
          <p:cNvPr id="5" name="Picture 4">
            <a:extLst>
              <a:ext uri="{FF2B5EF4-FFF2-40B4-BE49-F238E27FC236}">
                <a16:creationId xmlns:a16="http://schemas.microsoft.com/office/drawing/2014/main" id="{DE54852D-EA3D-DD03-733B-586493861AB8}"/>
              </a:ext>
            </a:extLst>
          </p:cNvPr>
          <p:cNvPicPr>
            <a:picLocks noChangeAspect="1"/>
          </p:cNvPicPr>
          <p:nvPr/>
        </p:nvPicPr>
        <p:blipFill>
          <a:blip r:embed="rId4"/>
          <a:srcRect t="4794" b="5408"/>
          <a:stretch/>
        </p:blipFill>
        <p:spPr>
          <a:xfrm>
            <a:off x="6410632" y="560438"/>
            <a:ext cx="5161937" cy="4434348"/>
          </a:xfrm>
          <a:prstGeom prst="rect">
            <a:avLst/>
          </a:prstGeom>
        </p:spPr>
      </p:pic>
      <p:sp>
        <p:nvSpPr>
          <p:cNvPr id="6" name="TextBox 5">
            <a:extLst>
              <a:ext uri="{FF2B5EF4-FFF2-40B4-BE49-F238E27FC236}">
                <a16:creationId xmlns:a16="http://schemas.microsoft.com/office/drawing/2014/main" id="{77C2F499-1C52-214C-58E9-FA1CA2190A40}"/>
              </a:ext>
            </a:extLst>
          </p:cNvPr>
          <p:cNvSpPr txBox="1"/>
          <p:nvPr/>
        </p:nvSpPr>
        <p:spPr>
          <a:xfrm>
            <a:off x="717755" y="5624052"/>
            <a:ext cx="5142272"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7: User Login Page</a:t>
            </a:r>
          </a:p>
        </p:txBody>
      </p:sp>
      <p:sp>
        <p:nvSpPr>
          <p:cNvPr id="8" name="TextBox 7">
            <a:extLst>
              <a:ext uri="{FF2B5EF4-FFF2-40B4-BE49-F238E27FC236}">
                <a16:creationId xmlns:a16="http://schemas.microsoft.com/office/drawing/2014/main" id="{C8DA9B7E-9D45-B042-C29B-7D84D3758C78}"/>
              </a:ext>
            </a:extLst>
          </p:cNvPr>
          <p:cNvSpPr txBox="1"/>
          <p:nvPr/>
        </p:nvSpPr>
        <p:spPr>
          <a:xfrm>
            <a:off x="6587613" y="5624052"/>
            <a:ext cx="4984956" cy="276999"/>
          </a:xfrm>
          <a:prstGeom prst="rect">
            <a:avLst/>
          </a:prstGeom>
          <a:noFill/>
        </p:spPr>
        <p:txBody>
          <a:bodyPr wrap="square" rtlCol="0">
            <a:spAutoFit/>
          </a:bodyPr>
          <a:lstStyle/>
          <a:p>
            <a:pPr algn="ctr"/>
            <a:r>
              <a:rPr lang="en-IN" sz="1200" b="1" dirty="0">
                <a:latin typeface="Times New Roman" panose="02020603050405020304" pitchFamily="18" charset="0"/>
                <a:cs typeface="Times New Roman" panose="02020603050405020304" pitchFamily="18" charset="0"/>
              </a:rPr>
              <a:t>Snapshot 8: User Appointment Page</a:t>
            </a:r>
          </a:p>
        </p:txBody>
      </p:sp>
    </p:spTree>
    <p:extLst>
      <p:ext uri="{BB962C8B-B14F-4D97-AF65-F5344CB8AC3E}">
        <p14:creationId xmlns:p14="http://schemas.microsoft.com/office/powerpoint/2010/main" val="408470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D9986-7319-DADD-196B-82B213A5F99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B68A89-6F5D-B22F-5A5F-1F4D720AA3A2}"/>
              </a:ext>
            </a:extLst>
          </p:cNvPr>
          <p:cNvSpPr txBox="1"/>
          <p:nvPr/>
        </p:nvSpPr>
        <p:spPr>
          <a:xfrm>
            <a:off x="233082" y="172720"/>
            <a:ext cx="11551482"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ADVANTAGES AND DISADVANTAGES</a:t>
            </a:r>
          </a:p>
        </p:txBody>
      </p:sp>
      <p:sp>
        <p:nvSpPr>
          <p:cNvPr id="8" name="TextBox 7">
            <a:extLst>
              <a:ext uri="{FF2B5EF4-FFF2-40B4-BE49-F238E27FC236}">
                <a16:creationId xmlns:a16="http://schemas.microsoft.com/office/drawing/2014/main" id="{2066F8DF-3CE3-B886-360A-53F647BC83F0}"/>
              </a:ext>
            </a:extLst>
          </p:cNvPr>
          <p:cNvSpPr txBox="1"/>
          <p:nvPr/>
        </p:nvSpPr>
        <p:spPr>
          <a:xfrm>
            <a:off x="389505" y="880606"/>
            <a:ext cx="11551482" cy="4753609"/>
          </a:xfrm>
          <a:prstGeom prst="rect">
            <a:avLst/>
          </a:prstGeom>
          <a:noFill/>
        </p:spPr>
        <p:txBody>
          <a:bodyPr wrap="square" rtlCol="0">
            <a:spAutoFit/>
          </a:bodyPr>
          <a:lstStyle/>
          <a:p>
            <a:pPr indent="165735" algn="just">
              <a:lnSpc>
                <a:spcPct val="150000"/>
              </a:lnSpc>
              <a:buNone/>
            </a:pPr>
            <a:r>
              <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Better Organization: </a:t>
            </a:r>
            <a:r>
              <a:rPr lang="en-US" dirty="0">
                <a:latin typeface="Times New Roman" panose="02020603050405020304" pitchFamily="18" charset="0"/>
                <a:cs typeface="Times New Roman" panose="02020603050405020304" pitchFamily="18" charset="0"/>
              </a:rPr>
              <a:t>All patient, doctor, and hospital data is stored in one place, making it easy to manage and access.</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Time Saving: </a:t>
            </a:r>
            <a:r>
              <a:rPr lang="en-US" dirty="0">
                <a:latin typeface="Times New Roman" panose="02020603050405020304" pitchFamily="18" charset="0"/>
                <a:cs typeface="Times New Roman" panose="02020603050405020304" pitchFamily="18" charset="0"/>
              </a:rPr>
              <a:t>Tasks like booking appointments, and record-keeping are automated, saving time for staff and doctors.</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Real-Time Information: </a:t>
            </a:r>
            <a:r>
              <a:rPr lang="en-US" dirty="0">
                <a:latin typeface="Times New Roman" panose="02020603050405020304" pitchFamily="18" charset="0"/>
                <a:cs typeface="Times New Roman" panose="02020603050405020304" pitchFamily="18" charset="0"/>
              </a:rPr>
              <a:t>Staff can access up-to-date information instantly, which helps in quick decision-making.</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Security: </a:t>
            </a:r>
            <a:r>
              <a:rPr lang="en-US" dirty="0">
                <a:latin typeface="Times New Roman" panose="02020603050405020304" pitchFamily="18" charset="0"/>
                <a:cs typeface="Times New Roman" panose="02020603050405020304" pitchFamily="18" charset="0"/>
              </a:rPr>
              <a:t>Patient records are protected with passwords and access control, keeping sensitive information safe.</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just">
              <a:lnSpc>
                <a:spcPct val="150000"/>
              </a:lnSpc>
              <a:tabLst>
                <a:tab pos="457200" algn="l"/>
              </a:tabLst>
            </a:pP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indent="165735" algn="just">
              <a:lnSpc>
                <a:spcPct val="150000"/>
              </a:lnSpc>
              <a:buNone/>
            </a:pPr>
            <a:r>
              <a:rPr lang="en-IN"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High Initial Cost: </a:t>
            </a:r>
            <a:r>
              <a:rPr lang="en-US" dirty="0">
                <a:latin typeface="Times New Roman" panose="02020603050405020304" pitchFamily="18" charset="0"/>
                <a:cs typeface="Times New Roman" panose="02020603050405020304" pitchFamily="18" charset="0"/>
              </a:rPr>
              <a:t>Buying the software, setting up servers, and training staff can be expensive at first.</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Training Required: </a:t>
            </a:r>
            <a:r>
              <a:rPr lang="en-US" dirty="0">
                <a:latin typeface="Times New Roman" panose="02020603050405020304" pitchFamily="18" charset="0"/>
                <a:cs typeface="Times New Roman" panose="02020603050405020304" pitchFamily="18" charset="0"/>
              </a:rPr>
              <a:t>Hospital staff may need time and training to get used to the new system.</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buFont typeface="+mj-lt"/>
              <a:buAutoNum type="arabicPeriod"/>
              <a:tabLst>
                <a:tab pos="457200" algn="l"/>
              </a:tabLst>
            </a:pPr>
            <a:r>
              <a:rPr lang="en-US" b="1" dirty="0">
                <a:latin typeface="Times New Roman" panose="02020603050405020304" pitchFamily="18" charset="0"/>
                <a:cs typeface="Times New Roman" panose="02020603050405020304" pitchFamily="18" charset="0"/>
              </a:rPr>
              <a:t>Data Security Risks: </a:t>
            </a:r>
            <a:r>
              <a:rPr lang="en-US" dirty="0">
                <a:latin typeface="Times New Roman" panose="02020603050405020304" pitchFamily="18" charset="0"/>
                <a:cs typeface="Times New Roman" panose="02020603050405020304" pitchFamily="18" charset="0"/>
              </a:rPr>
              <a:t>If not properly secured, the system may be vulnerable to hacking or data loss.</a:t>
            </a:r>
            <a:endPar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Footer Placeholder 9">
            <a:extLst>
              <a:ext uri="{FF2B5EF4-FFF2-40B4-BE49-F238E27FC236}">
                <a16:creationId xmlns:a16="http://schemas.microsoft.com/office/drawing/2014/main" id="{7C32A6B7-4396-04C1-A5F4-386150877C28}"/>
              </a:ext>
            </a:extLst>
          </p:cNvPr>
          <p:cNvSpPr>
            <a:spLocks noGrp="1"/>
          </p:cNvSpPr>
          <p:nvPr>
            <p:ph type="ftr" sz="quarter" idx="11"/>
          </p:nvPr>
        </p:nvSpPr>
        <p:spPr>
          <a:xfrm>
            <a:off x="1" y="6459785"/>
            <a:ext cx="2042160" cy="365125"/>
          </a:xfrm>
        </p:spPr>
        <p:txBody>
          <a:bodyPr/>
          <a:lstStyle/>
          <a:p>
            <a:r>
              <a:rPr lang="en-IN" dirty="0"/>
              <a:t>Dept. of ECE, GMIT, DAVANGERE</a:t>
            </a:r>
          </a:p>
        </p:txBody>
      </p:sp>
      <p:sp>
        <p:nvSpPr>
          <p:cNvPr id="7" name="Slide Number Placeholder 6">
            <a:extLst>
              <a:ext uri="{FF2B5EF4-FFF2-40B4-BE49-F238E27FC236}">
                <a16:creationId xmlns:a16="http://schemas.microsoft.com/office/drawing/2014/main" id="{1A33E110-1516-DDA0-6CE0-3C65CDA55DDE}"/>
              </a:ext>
            </a:extLst>
          </p:cNvPr>
          <p:cNvSpPr>
            <a:spLocks noGrp="1"/>
          </p:cNvSpPr>
          <p:nvPr>
            <p:ph type="sldNum" sz="quarter" idx="12"/>
          </p:nvPr>
        </p:nvSpPr>
        <p:spPr/>
        <p:txBody>
          <a:bodyPr/>
          <a:lstStyle/>
          <a:p>
            <a:fld id="{28254D9E-7D44-4180-A68A-D953F4FABDCA}" type="slidenum">
              <a:rPr lang="en-IN" smtClean="0"/>
              <a:t>17</a:t>
            </a:fld>
            <a:endParaRPr lang="en-IN"/>
          </a:p>
        </p:txBody>
      </p:sp>
    </p:spTree>
    <p:extLst>
      <p:ext uri="{BB962C8B-B14F-4D97-AF65-F5344CB8AC3E}">
        <p14:creationId xmlns:p14="http://schemas.microsoft.com/office/powerpoint/2010/main" val="1649750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68F82-9AE2-8119-CFDE-5F420DDC9C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4CA591A-4DAA-08B2-F1CC-24EEF3A7ED61}"/>
              </a:ext>
            </a:extLst>
          </p:cNvPr>
          <p:cNvSpPr txBox="1"/>
          <p:nvPr/>
        </p:nvSpPr>
        <p:spPr>
          <a:xfrm>
            <a:off x="185195" y="335666"/>
            <a:ext cx="11599369" cy="707886"/>
          </a:xfrm>
          <a:prstGeom prst="rect">
            <a:avLst/>
          </a:prstGeom>
          <a:noFill/>
        </p:spPr>
        <p:txBody>
          <a:bodyPr wrap="square" rtlCol="0">
            <a:spAutoFit/>
          </a:bodyPr>
          <a:lstStyle/>
          <a:p>
            <a:r>
              <a:rPr lang="en-US" sz="4000" b="1" dirty="0">
                <a:solidFill>
                  <a:schemeClr val="accent2"/>
                </a:solidFill>
                <a:latin typeface="Baskerville Old Face" panose="02020602080505020303" pitchFamily="18" charset="0"/>
                <a:cs typeface="Times New Roman" panose="02020603050405020304" pitchFamily="18" charset="0"/>
              </a:rPr>
              <a:t>CONCLUSION</a:t>
            </a:r>
            <a:endParaRPr lang="en-IN" sz="4000" b="1" dirty="0">
              <a:solidFill>
                <a:schemeClr val="accent2"/>
              </a:solidFill>
              <a:latin typeface="Baskerville Old Face" panose="02020602080505020303" pitchFamily="18" charset="0"/>
              <a:cs typeface="Times New Roman" panose="02020603050405020304" pitchFamily="18" charset="0"/>
            </a:endParaRPr>
          </a:p>
        </p:txBody>
      </p:sp>
      <p:sp>
        <p:nvSpPr>
          <p:cNvPr id="11" name="Footer Placeholder 10">
            <a:extLst>
              <a:ext uri="{FF2B5EF4-FFF2-40B4-BE49-F238E27FC236}">
                <a16:creationId xmlns:a16="http://schemas.microsoft.com/office/drawing/2014/main" id="{63C95EFB-E526-5119-BABC-85CB6B6EEA13}"/>
              </a:ext>
            </a:extLst>
          </p:cNvPr>
          <p:cNvSpPr>
            <a:spLocks noGrp="1"/>
          </p:cNvSpPr>
          <p:nvPr>
            <p:ph type="ftr" sz="quarter" idx="11"/>
          </p:nvPr>
        </p:nvSpPr>
        <p:spPr>
          <a:xfrm>
            <a:off x="1" y="6459785"/>
            <a:ext cx="1950719" cy="365125"/>
          </a:xfrm>
        </p:spPr>
        <p:txBody>
          <a:bodyPr/>
          <a:lstStyle/>
          <a:p>
            <a:r>
              <a:rPr lang="en-IN" dirty="0"/>
              <a:t>Dept. of ECE, GMIT, DAVANGERE</a:t>
            </a:r>
          </a:p>
        </p:txBody>
      </p:sp>
      <p:sp>
        <p:nvSpPr>
          <p:cNvPr id="9" name="Slide Number Placeholder 8">
            <a:extLst>
              <a:ext uri="{FF2B5EF4-FFF2-40B4-BE49-F238E27FC236}">
                <a16:creationId xmlns:a16="http://schemas.microsoft.com/office/drawing/2014/main" id="{2189A99F-D3CD-89D4-4EE0-0A57885E3AEC}"/>
              </a:ext>
            </a:extLst>
          </p:cNvPr>
          <p:cNvSpPr>
            <a:spLocks noGrp="1"/>
          </p:cNvSpPr>
          <p:nvPr>
            <p:ph type="sldNum" sz="quarter" idx="12"/>
          </p:nvPr>
        </p:nvSpPr>
        <p:spPr/>
        <p:txBody>
          <a:bodyPr/>
          <a:lstStyle/>
          <a:p>
            <a:fld id="{28254D9E-7D44-4180-A68A-D953F4FABDCA}" type="slidenum">
              <a:rPr lang="en-IN" smtClean="0"/>
              <a:t>18</a:t>
            </a:fld>
            <a:endParaRPr lang="en-IN"/>
          </a:p>
        </p:txBody>
      </p:sp>
      <p:sp>
        <p:nvSpPr>
          <p:cNvPr id="5" name="Rectangle 2">
            <a:extLst>
              <a:ext uri="{FF2B5EF4-FFF2-40B4-BE49-F238E27FC236}">
                <a16:creationId xmlns:a16="http://schemas.microsoft.com/office/drawing/2014/main" id="{8B2B5850-C4E2-A1D8-8648-E8FDBA529AE4}"/>
              </a:ext>
            </a:extLst>
          </p:cNvPr>
          <p:cNvSpPr>
            <a:spLocks noChangeArrowheads="1"/>
          </p:cNvSpPr>
          <p:nvPr/>
        </p:nvSpPr>
        <p:spPr bwMode="auto">
          <a:xfrm rot="10800000" flipV="1">
            <a:off x="185195" y="946815"/>
            <a:ext cx="6999376"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lang="en-US" altLang="en-US" dirty="0">
                <a:latin typeface="Times New Roman" panose="02020603050405020304" pitchFamily="18" charset="0"/>
                <a:cs typeface="Times New Roman" panose="02020603050405020304" pitchFamily="18" charset="0"/>
              </a:rPr>
              <a:t>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Hospital Management System plays a vital role in improving the efficiency, accuracy, and speed of hospital operations. It helps in organizing patient records, managing appointments, and improving communication between departments. By automating daily tasks, it reduces paperwork and allows hospital staff to focus more on patient care. Although there may be initial costs and technical challenges, the long-term benefits in terms of better service quality, faster processes, and secure data management make HMS a valuable solution for modern healthcare institutions.</a:t>
            </a:r>
          </a:p>
        </p:txBody>
      </p:sp>
      <p:pic>
        <p:nvPicPr>
          <p:cNvPr id="6" name="Picture 5">
            <a:extLst>
              <a:ext uri="{FF2B5EF4-FFF2-40B4-BE49-F238E27FC236}">
                <a16:creationId xmlns:a16="http://schemas.microsoft.com/office/drawing/2014/main" id="{CFA54A4D-BF89-54F5-3110-6421438A3660}"/>
              </a:ext>
            </a:extLst>
          </p:cNvPr>
          <p:cNvPicPr>
            <a:picLocks noChangeAspect="1"/>
          </p:cNvPicPr>
          <p:nvPr/>
        </p:nvPicPr>
        <p:blipFill>
          <a:blip r:embed="rId3"/>
          <a:stretch>
            <a:fillRect/>
          </a:stretch>
        </p:blipFill>
        <p:spPr>
          <a:xfrm>
            <a:off x="7285703" y="1140542"/>
            <a:ext cx="4326194" cy="4269905"/>
          </a:xfrm>
          <a:prstGeom prst="rect">
            <a:avLst/>
          </a:prstGeom>
        </p:spPr>
      </p:pic>
    </p:spTree>
    <p:extLst>
      <p:ext uri="{BB962C8B-B14F-4D97-AF65-F5344CB8AC3E}">
        <p14:creationId xmlns:p14="http://schemas.microsoft.com/office/powerpoint/2010/main" val="4005525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C1D366-2182-6A05-4376-D7E74C5C3AA2}"/>
              </a:ext>
            </a:extLst>
          </p:cNvPr>
          <p:cNvSpPr txBox="1"/>
          <p:nvPr/>
        </p:nvSpPr>
        <p:spPr>
          <a:xfrm>
            <a:off x="2428568" y="2064773"/>
            <a:ext cx="6636774" cy="923330"/>
          </a:xfrm>
          <a:prstGeom prst="rect">
            <a:avLst/>
          </a:prstGeom>
          <a:noFill/>
        </p:spPr>
        <p:txBody>
          <a:bodyPr wrap="square" rtlCol="0">
            <a:spAutoFit/>
          </a:bodyPr>
          <a:lstStyle/>
          <a:p>
            <a:r>
              <a:rPr lang="en-IN" sz="5400" dirty="0">
                <a:solidFill>
                  <a:schemeClr val="accent2"/>
                </a:solidFill>
                <a:latin typeface="Times New Roman" panose="02020603050405020304" pitchFamily="18" charset="0"/>
                <a:cs typeface="Times New Roman" panose="02020603050405020304" pitchFamily="18" charset="0"/>
              </a:rPr>
              <a:t>        THANK YOU</a:t>
            </a:r>
          </a:p>
        </p:txBody>
      </p:sp>
    </p:spTree>
    <p:extLst>
      <p:ext uri="{BB962C8B-B14F-4D97-AF65-F5344CB8AC3E}">
        <p14:creationId xmlns:p14="http://schemas.microsoft.com/office/powerpoint/2010/main" val="1087006615"/>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3809</TotalTime>
  <Words>1537</Words>
  <Application>Microsoft Office PowerPoint</Application>
  <PresentationFormat>Widescreen</PresentationFormat>
  <Paragraphs>170</Paragraphs>
  <Slides>19</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Baskerville Old Face</vt:lpstr>
      <vt:lpstr>Calibri</vt:lpstr>
      <vt:lpstr>Calibri Light</vt:lpstr>
      <vt:lpstr>Symbol</vt:lpstr>
      <vt:lpstr>Times New Roman</vt:lpstr>
      <vt:lpstr>Wingdings 2</vt:lpstr>
      <vt:lpstr>Retrospect</vt:lpstr>
      <vt:lpstr>PowerPoint Presentation</vt:lpstr>
      <vt:lpstr>CONTENTS</vt:lpstr>
      <vt:lpstr>ABOUT THE ORGANIZATION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 Laptop</dc:creator>
  <cp:lastModifiedBy>Varsha B T</cp:lastModifiedBy>
  <cp:revision>56</cp:revision>
  <dcterms:created xsi:type="dcterms:W3CDTF">2024-11-05T13:38:30Z</dcterms:created>
  <dcterms:modified xsi:type="dcterms:W3CDTF">2026-05-06T19:14:42Z</dcterms:modified>
</cp:coreProperties>
</file>